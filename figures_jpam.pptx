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Figure 1</a:t>
            </a:r>
          </a:p>
        </p:txBody>
      </p:sp>
      <p:pic>
        <p:nvPicPr>
          <p:cNvPr id="3" name="Picture 2" descr="Figure1.png"/>
          <p:cNvPicPr>
            <a:picLocks noChangeAspect="1"/>
          </p:cNvPicPr>
          <p:nvPr/>
        </p:nvPicPr>
        <p:blipFill>
          <a:blip r:embed="rId2"/>
          <a:stretch>
            <a:fillRect/>
          </a:stretch>
        </p:blipFill>
        <p:spPr>
          <a:xfrm>
            <a:off x="640080" y="731520"/>
            <a:ext cx="10881360" cy="5303520"/>
          </a:xfrm>
          <a:prstGeom prst="rect">
            <a:avLst/>
          </a:prstGeom>
        </p:spPr>
      </p:pic>
      <p:sp>
        <p:nvSpPr>
          <p:cNvPr id="4" name="TextBox 3"/>
          <p:cNvSpPr txBox="1"/>
          <p:nvPr/>
        </p:nvSpPr>
        <p:spPr>
          <a:xfrm>
            <a:off x="457200" y="6126480"/>
            <a:ext cx="11247120" cy="457200"/>
          </a:xfrm>
          <a:prstGeom prst="rect">
            <a:avLst/>
          </a:prstGeom>
          <a:noFill/>
        </p:spPr>
        <p:txBody>
          <a:bodyPr wrap="none">
            <a:spAutoFit/>
          </a:bodyPr>
          <a:lstStyle/>
          <a:p>
            <a:r>
              <a:t>Figure 1. Decision tree used to classify each canonical curve. Each curve is fitted with linear and quadratic models; the verdict depends on the nested F-test at level alpha, the same test after removing the k most influential observations by Cook's distance, leave-one-out cross-validated prediction error, and the Bayesian information criterion. Default alpha = 0.05, k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Figure 2</a:t>
            </a:r>
          </a:p>
        </p:txBody>
      </p:sp>
      <p:pic>
        <p:nvPicPr>
          <p:cNvPr id="3" name="Picture 2" descr="Figure2.png"/>
          <p:cNvPicPr>
            <a:picLocks noChangeAspect="1"/>
          </p:cNvPicPr>
          <p:nvPr/>
        </p:nvPicPr>
        <p:blipFill>
          <a:blip r:embed="rId2"/>
          <a:stretch>
            <a:fillRect/>
          </a:stretch>
        </p:blipFill>
        <p:spPr>
          <a:xfrm>
            <a:off x="640080" y="731520"/>
            <a:ext cx="10881360" cy="5303520"/>
          </a:xfrm>
          <a:prstGeom prst="rect">
            <a:avLst/>
          </a:prstGeom>
        </p:spPr>
      </p:pic>
      <p:sp>
        <p:nvSpPr>
          <p:cNvPr id="4" name="TextBox 3"/>
          <p:cNvSpPr txBox="1"/>
          <p:nvPr/>
        </p:nvSpPr>
        <p:spPr>
          <a:xfrm>
            <a:off x="457200" y="6126480"/>
            <a:ext cx="11247120" cy="457200"/>
          </a:xfrm>
          <a:prstGeom prst="rect">
            <a:avLst/>
          </a:prstGeom>
          <a:noFill/>
        </p:spPr>
        <p:txBody>
          <a:bodyPr wrap="none">
            <a:spAutoFit/>
          </a:bodyPr>
          <a:lstStyle/>
          <a:p>
            <a:r>
              <a:t>Figure 2. Share of the 50 canonical curves not classified as robustly nonlinear, by significance level alpha and number of influential observations removed k. The default cell (alpha = 0.05, k = 3) gives 68%.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Figure 3</a:t>
            </a:r>
          </a:p>
        </p:txBody>
      </p:sp>
      <p:pic>
        <p:nvPicPr>
          <p:cNvPr id="3" name="Picture 2" descr="Figure3.png"/>
          <p:cNvPicPr>
            <a:picLocks noChangeAspect="1"/>
          </p:cNvPicPr>
          <p:nvPr/>
        </p:nvPicPr>
        <p:blipFill>
          <a:blip r:embed="rId2"/>
          <a:stretch>
            <a:fillRect/>
          </a:stretch>
        </p:blipFill>
        <p:spPr>
          <a:xfrm>
            <a:off x="640080" y="731520"/>
            <a:ext cx="10881360" cy="5303520"/>
          </a:xfrm>
          <a:prstGeom prst="rect">
            <a:avLst/>
          </a:prstGeom>
        </p:spPr>
      </p:pic>
      <p:sp>
        <p:nvSpPr>
          <p:cNvPr id="4" name="TextBox 3"/>
          <p:cNvSpPr txBox="1"/>
          <p:nvPr/>
        </p:nvSpPr>
        <p:spPr>
          <a:xfrm>
            <a:off x="457200" y="6126480"/>
            <a:ext cx="11247120" cy="457200"/>
          </a:xfrm>
          <a:prstGeom prst="rect">
            <a:avLst/>
          </a:prstGeom>
          <a:noFill/>
        </p:spPr>
        <p:txBody>
          <a:bodyPr wrap="none">
            <a:spAutoFit/>
          </a:bodyPr>
          <a:lstStyle/>
          <a:p>
            <a:r>
              <a:t>Figure 3. Crude death rate per 1,000 registered residents, 2005-2022, for municipalities in the restricted or deliberate evacuation areas (T1), the subset evacuated in full (T1w), the emergency evacuation preparation area (T2), and Fukushima control municipalities. Deaths from Vital Statistics; population from the Basic Resident Register. Shaded years (2020-2022) are outside the estimation sample.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Figure 4</a:t>
            </a:r>
          </a:p>
        </p:txBody>
      </p:sp>
      <p:pic>
        <p:nvPicPr>
          <p:cNvPr id="3" name="Picture 2" descr="Figure4.png"/>
          <p:cNvPicPr>
            <a:picLocks noChangeAspect="1"/>
          </p:cNvPicPr>
          <p:nvPr/>
        </p:nvPicPr>
        <p:blipFill>
          <a:blip r:embed="rId2"/>
          <a:stretch>
            <a:fillRect/>
          </a:stretch>
        </p:blipFill>
        <p:spPr>
          <a:xfrm>
            <a:off x="640080" y="731520"/>
            <a:ext cx="10881360" cy="5303520"/>
          </a:xfrm>
          <a:prstGeom prst="rect">
            <a:avLst/>
          </a:prstGeom>
        </p:spPr>
      </p:pic>
      <p:sp>
        <p:nvSpPr>
          <p:cNvPr id="4" name="TextBox 3"/>
          <p:cNvSpPr txBox="1"/>
          <p:nvPr/>
        </p:nvSpPr>
        <p:spPr>
          <a:xfrm>
            <a:off x="457200" y="6126480"/>
            <a:ext cx="11247120" cy="457200"/>
          </a:xfrm>
          <a:prstGeom prst="rect">
            <a:avLst/>
          </a:prstGeom>
          <a:noFill/>
        </p:spPr>
        <p:txBody>
          <a:bodyPr wrap="none">
            <a:spAutoFit/>
          </a:bodyPr>
          <a:lstStyle/>
          <a:p>
            <a:r>
              <a:t>Figure 4. Event-study estimates of the effect of evacuation orders on log crude death rate, T1 municipalities versus Fukushima controls, unweighted, reference year 2010. Points are coefficients; bars are 95% confidence intervals from municipality-clustered standard errors, shown for reference only; inference in the text uses permutation.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Figure 5</a:t>
            </a:r>
          </a:p>
        </p:txBody>
      </p:sp>
      <p:pic>
        <p:nvPicPr>
          <p:cNvPr id="3" name="Picture 2" descr="Figure5.png"/>
          <p:cNvPicPr>
            <a:picLocks noChangeAspect="1"/>
          </p:cNvPicPr>
          <p:nvPr/>
        </p:nvPicPr>
        <p:blipFill>
          <a:blip r:embed="rId2"/>
          <a:stretch>
            <a:fillRect/>
          </a:stretch>
        </p:blipFill>
        <p:spPr>
          <a:xfrm>
            <a:off x="640080" y="731520"/>
            <a:ext cx="10881360" cy="5303520"/>
          </a:xfrm>
          <a:prstGeom prst="rect">
            <a:avLst/>
          </a:prstGeom>
        </p:spPr>
      </p:pic>
      <p:sp>
        <p:nvSpPr>
          <p:cNvPr id="4" name="TextBox 3"/>
          <p:cNvSpPr txBox="1"/>
          <p:nvPr/>
        </p:nvSpPr>
        <p:spPr>
          <a:xfrm>
            <a:off x="457200" y="6126480"/>
            <a:ext cx="11247120" cy="457200"/>
          </a:xfrm>
          <a:prstGeom prst="rect">
            <a:avLst/>
          </a:prstGeom>
          <a:noFill/>
        </p:spPr>
        <p:txBody>
          <a:bodyPr wrap="none">
            <a:spAutoFit/>
          </a:bodyPr>
          <a:lstStyle/>
          <a:p>
            <a:r>
              <a:t>Figure 5. Decomposition of 2011 deaths in evacuated municipalities into expected deaths, direct disaster deaths, and residual excess. Expected deaths are 2011 population times the 2010 death rate, scaled by the change in the pooled control death rate. Direct deaths from the Fukushima Prefecture damage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Figure 6</a:t>
            </a:r>
          </a:p>
        </p:txBody>
      </p:sp>
      <p:pic>
        <p:nvPicPr>
          <p:cNvPr id="3" name="Picture 2" descr="Figure6.png"/>
          <p:cNvPicPr>
            <a:picLocks noChangeAspect="1"/>
          </p:cNvPicPr>
          <p:nvPr/>
        </p:nvPicPr>
        <p:blipFill>
          <a:blip r:embed="rId2"/>
          <a:stretch>
            <a:fillRect/>
          </a:stretch>
        </p:blipFill>
        <p:spPr>
          <a:xfrm>
            <a:off x="640080" y="731520"/>
            <a:ext cx="10881360" cy="5303520"/>
          </a:xfrm>
          <a:prstGeom prst="rect">
            <a:avLst/>
          </a:prstGeom>
        </p:spPr>
      </p:pic>
      <p:sp>
        <p:nvSpPr>
          <p:cNvPr id="4" name="TextBox 3"/>
          <p:cNvSpPr txBox="1"/>
          <p:nvPr/>
        </p:nvSpPr>
        <p:spPr>
          <a:xfrm>
            <a:off x="457200" y="6126480"/>
            <a:ext cx="11247120" cy="457200"/>
          </a:xfrm>
          <a:prstGeom prst="rect">
            <a:avLst/>
          </a:prstGeom>
          <a:noFill/>
        </p:spPr>
        <p:txBody>
          <a:bodyPr wrap="none">
            <a:spAutoFit/>
          </a:bodyPr>
          <a:lstStyle/>
          <a:p>
            <a:r>
              <a:t>Figure 6. Kansas versus synthetic Kansas, main donor pool: log real individual income-tax revenue per capita (left) and log real GDP per capita (right), 1997-2019. Vertical lines mark the 2012 enactment and the 2017 reversal. Synthetic series are convex combinations of 33 donor states fitted on 1997-2012.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Figure A1</a:t>
            </a:r>
          </a:p>
        </p:txBody>
      </p:sp>
      <p:pic>
        <p:nvPicPr>
          <p:cNvPr id="3" name="Picture 2" descr="FigureA1.png"/>
          <p:cNvPicPr>
            <a:picLocks noChangeAspect="1"/>
          </p:cNvPicPr>
          <p:nvPr/>
        </p:nvPicPr>
        <p:blipFill>
          <a:blip r:embed="rId2"/>
          <a:stretch>
            <a:fillRect/>
          </a:stretch>
        </p:blipFill>
        <p:spPr>
          <a:xfrm>
            <a:off x="640080" y="731520"/>
            <a:ext cx="10881360" cy="5303520"/>
          </a:xfrm>
          <a:prstGeom prst="rect">
            <a:avLst/>
          </a:prstGeom>
        </p:spPr>
      </p:pic>
      <p:sp>
        <p:nvSpPr>
          <p:cNvPr id="4" name="TextBox 3"/>
          <p:cNvSpPr txBox="1"/>
          <p:nvPr/>
        </p:nvSpPr>
        <p:spPr>
          <a:xfrm>
            <a:off x="457200" y="6126480"/>
            <a:ext cx="11247120" cy="457200"/>
          </a:xfrm>
          <a:prstGeom prst="rect">
            <a:avLst/>
          </a:prstGeom>
          <a:noFill/>
        </p:spPr>
        <p:txBody>
          <a:bodyPr wrap="none">
            <a:spAutoFit/>
          </a:bodyPr>
          <a:lstStyle/>
          <a:p>
            <a:r>
              <a:t>Figure A1. Difference-in-differences event studies for Kansas versus the four neighbouring states, reference year 2012, for the four outcomes.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Table 1. Verdicts for 50 canonical curves at the default thresholds (alpha = 0.05, k = 3), by field.</a:t>
            </a:r>
          </a:p>
        </p:txBody>
      </p:sp>
      <p:graphicFrame>
        <p:nvGraphicFramePr>
          <p:cNvPr id="3" name="Table 2"/>
          <p:cNvGraphicFramePr>
            <a:graphicFrameLocks noGrp="1"/>
          </p:cNvGraphicFramePr>
          <p:nvPr/>
        </p:nvGraphicFramePr>
        <p:xfrm>
          <a:off x="274320" y="731520"/>
          <a:ext cx="11612880" cy="5486400"/>
        </p:xfrm>
        <a:graphic>
          <a:graphicData uri="http://schemas.openxmlformats.org/drawingml/2006/table">
            <a:tbl>
              <a:tblPr firstRow="1" bandRow="1">
                <a:tableStyleId>{5C22544A-7EE6-4342-B048-85BDC9FD1C3A}</a:tableStyleId>
              </a:tblPr>
              <a:tblGrid>
                <a:gridCol w="1658982"/>
                <a:gridCol w="1658982"/>
                <a:gridCol w="1658982"/>
                <a:gridCol w="1658982"/>
                <a:gridCol w="1658982"/>
                <a:gridCol w="1658982"/>
                <a:gridCol w="1658988"/>
              </a:tblGrid>
              <a:tr h="548640">
                <a:tc>
                  <a:txBody>
                    <a:bodyPr/>
                    <a:lstStyle/>
                    <a:p>
                      <a:r>
                        <a:t>Category</a:t>
                      </a:r>
                    </a:p>
                  </a:txBody>
                  <a:tcPr/>
                </a:tc>
                <a:tc>
                  <a:txBody>
                    <a:bodyPr/>
                    <a:lstStyle/>
                    <a:p>
                      <a:r>
                        <a:t>Robust nonlinear</a:t>
                      </a:r>
                    </a:p>
                  </a:txBody>
                  <a:tcPr/>
                </a:tc>
                <a:tc>
                  <a:txBody>
                    <a:bodyPr/>
                    <a:lstStyle/>
                    <a:p>
                      <a:r>
                        <a:t>Not significant</a:t>
                      </a:r>
                    </a:p>
                  </a:txBody>
                  <a:tcPr/>
                </a:tc>
                <a:tc>
                  <a:txBody>
                    <a:bodyPr/>
                    <a:lstStyle/>
                    <a:p>
                      <a:r>
                        <a:t>Outlier dependent</a:t>
                      </a:r>
                    </a:p>
                  </a:txBody>
                  <a:tcPr/>
                </a:tc>
                <a:tc>
                  <a:txBody>
                    <a:bodyPr/>
                    <a:lstStyle/>
                    <a:p>
                      <a:r>
                        <a:t>Overfitting</a:t>
                      </a:r>
                    </a:p>
                  </a:txBody>
                  <a:tcPr/>
                </a:tc>
                <a:tc>
                  <a:txBody>
                    <a:bodyPr/>
                    <a:lstStyle/>
                    <a:p>
                      <a:r>
                        <a:t>Insufficient data</a:t>
                      </a:r>
                    </a:p>
                  </a:txBody>
                  <a:tcPr/>
                </a:tc>
                <a:tc>
                  <a:txBody>
                    <a:bodyPr/>
                    <a:lstStyle/>
                    <a:p>
                      <a:r>
                        <a:t>Total</a:t>
                      </a:r>
                    </a:p>
                  </a:txBody>
                  <a:tcPr/>
                </a:tc>
              </a:tr>
              <a:tr h="548640">
                <a:tc>
                  <a:txBody>
                    <a:bodyPr/>
                    <a:lstStyle/>
                    <a:p>
                      <a:r>
                        <a:t>Agriculture</a:t>
                      </a:r>
                    </a:p>
                  </a:txBody>
                  <a:tcPr/>
                </a:tc>
                <a:tc>
                  <a:txBody>
                    <a:bodyPr/>
                    <a:lstStyle/>
                    <a:p>
                      <a:r>
                        <a:t>2</a:t>
                      </a:r>
                    </a:p>
                  </a:txBody>
                  <a:tcPr/>
                </a:tc>
                <a:tc>
                  <a:txBody>
                    <a:bodyPr/>
                    <a:lstStyle/>
                    <a:p>
                      <a:r>
                        <a:t>1</a:t>
                      </a:r>
                    </a:p>
                  </a:txBody>
                  <a:tcPr/>
                </a:tc>
                <a:tc>
                  <a:txBody>
                    <a:bodyPr/>
                    <a:lstStyle/>
                    <a:p>
                      <a:r>
                        <a:t>0</a:t>
                      </a:r>
                    </a:p>
                  </a:txBody>
                  <a:tcPr/>
                </a:tc>
                <a:tc>
                  <a:txBody>
                    <a:bodyPr/>
                    <a:lstStyle/>
                    <a:p>
                      <a:r>
                        <a:t>0</a:t>
                      </a:r>
                    </a:p>
                  </a:txBody>
                  <a:tcPr/>
                </a:tc>
                <a:tc>
                  <a:txBody>
                    <a:bodyPr/>
                    <a:lstStyle/>
                    <a:p>
                      <a:r>
                        <a:t>1</a:t>
                      </a:r>
                    </a:p>
                  </a:txBody>
                  <a:tcPr/>
                </a:tc>
                <a:tc>
                  <a:txBody>
                    <a:bodyPr/>
                    <a:lstStyle/>
                    <a:p>
                      <a:r>
                        <a:t>4</a:t>
                      </a:r>
                    </a:p>
                  </a:txBody>
                  <a:tcPr/>
                </a:tc>
              </a:tr>
              <a:tr h="548640">
                <a:tc>
                  <a:txBody>
                    <a:bodyPr/>
                    <a:lstStyle/>
                    <a:p>
                      <a:r>
                        <a:t>Demography</a:t>
                      </a:r>
                    </a:p>
                  </a:txBody>
                  <a:tcPr/>
                </a:tc>
                <a:tc>
                  <a:txBody>
                    <a:bodyPr/>
                    <a:lstStyle/>
                    <a:p>
                      <a:r>
                        <a:t>2</a:t>
                      </a:r>
                    </a:p>
                  </a:txBody>
                  <a:tcPr/>
                </a:tc>
                <a:tc>
                  <a:txBody>
                    <a:bodyPr/>
                    <a:lstStyle/>
                    <a:p>
                      <a:r>
                        <a:t>3</a:t>
                      </a:r>
                    </a:p>
                  </a:txBody>
                  <a:tcPr/>
                </a:tc>
                <a:tc>
                  <a:txBody>
                    <a:bodyPr/>
                    <a:lstStyle/>
                    <a:p>
                      <a:r>
                        <a:t>0</a:t>
                      </a:r>
                    </a:p>
                  </a:txBody>
                  <a:tcPr/>
                </a:tc>
                <a:tc>
                  <a:txBody>
                    <a:bodyPr/>
                    <a:lstStyle/>
                    <a:p>
                      <a:r>
                        <a:t>0</a:t>
                      </a:r>
                    </a:p>
                  </a:txBody>
                  <a:tcPr/>
                </a:tc>
                <a:tc>
                  <a:txBody>
                    <a:bodyPr/>
                    <a:lstStyle/>
                    <a:p>
                      <a:r>
                        <a:t>1</a:t>
                      </a:r>
                    </a:p>
                  </a:txBody>
                  <a:tcPr/>
                </a:tc>
                <a:tc>
                  <a:txBody>
                    <a:bodyPr/>
                    <a:lstStyle/>
                    <a:p>
                      <a:r>
                        <a:t>6</a:t>
                      </a:r>
                    </a:p>
                  </a:txBody>
                  <a:tcPr/>
                </a:tc>
              </a:tr>
              <a:tr h="548640">
                <a:tc>
                  <a:txBody>
                    <a:bodyPr/>
                    <a:lstStyle/>
                    <a:p>
                      <a:r>
                        <a:t>Economics</a:t>
                      </a:r>
                    </a:p>
                  </a:txBody>
                  <a:tcPr/>
                </a:tc>
                <a:tc>
                  <a:txBody>
                    <a:bodyPr/>
                    <a:lstStyle/>
                    <a:p>
                      <a:r>
                        <a:t>3</a:t>
                      </a:r>
                    </a:p>
                  </a:txBody>
                  <a:tcPr/>
                </a:tc>
                <a:tc>
                  <a:txBody>
                    <a:bodyPr/>
                    <a:lstStyle/>
                    <a:p>
                      <a:r>
                        <a:t>8</a:t>
                      </a:r>
                    </a:p>
                  </a:txBody>
                  <a:tcPr/>
                </a:tc>
                <a:tc>
                  <a:txBody>
                    <a:bodyPr/>
                    <a:lstStyle/>
                    <a:p>
                      <a:r>
                        <a:t>1</a:t>
                      </a:r>
                    </a:p>
                  </a:txBody>
                  <a:tcPr/>
                </a:tc>
                <a:tc>
                  <a:txBody>
                    <a:bodyPr/>
                    <a:lstStyle/>
                    <a:p>
                      <a:r>
                        <a:t>0</a:t>
                      </a:r>
                    </a:p>
                  </a:txBody>
                  <a:tcPr/>
                </a:tc>
                <a:tc>
                  <a:txBody>
                    <a:bodyPr/>
                    <a:lstStyle/>
                    <a:p>
                      <a:r>
                        <a:t>0</a:t>
                      </a:r>
                    </a:p>
                  </a:txBody>
                  <a:tcPr/>
                </a:tc>
                <a:tc>
                  <a:txBody>
                    <a:bodyPr/>
                    <a:lstStyle/>
                    <a:p>
                      <a:r>
                        <a:t>12</a:t>
                      </a:r>
                    </a:p>
                  </a:txBody>
                  <a:tcPr/>
                </a:tc>
              </a:tr>
              <a:tr h="548640">
                <a:tc>
                  <a:txBody>
                    <a:bodyPr/>
                    <a:lstStyle/>
                    <a:p>
                      <a:r>
                        <a:t>Environmental Science</a:t>
                      </a:r>
                    </a:p>
                  </a:txBody>
                  <a:tcPr/>
                </a:tc>
                <a:tc>
                  <a:txBody>
                    <a:bodyPr/>
                    <a:lstStyle/>
                    <a:p>
                      <a:r>
                        <a:t>2</a:t>
                      </a:r>
                    </a:p>
                  </a:txBody>
                  <a:tcPr/>
                </a:tc>
                <a:tc>
                  <a:txBody>
                    <a:bodyPr/>
                    <a:lstStyle/>
                    <a:p>
                      <a:r>
                        <a:t>3</a:t>
                      </a:r>
                    </a:p>
                  </a:txBody>
                  <a:tcPr/>
                </a:tc>
                <a:tc>
                  <a:txBody>
                    <a:bodyPr/>
                    <a:lstStyle/>
                    <a:p>
                      <a:r>
                        <a:t>1</a:t>
                      </a:r>
                    </a:p>
                  </a:txBody>
                  <a:tcPr/>
                </a:tc>
                <a:tc>
                  <a:txBody>
                    <a:bodyPr/>
                    <a:lstStyle/>
                    <a:p>
                      <a:r>
                        <a:t>0</a:t>
                      </a:r>
                    </a:p>
                  </a:txBody>
                  <a:tcPr/>
                </a:tc>
                <a:tc>
                  <a:txBody>
                    <a:bodyPr/>
                    <a:lstStyle/>
                    <a:p>
                      <a:r>
                        <a:t>0</a:t>
                      </a:r>
                    </a:p>
                  </a:txBody>
                  <a:tcPr/>
                </a:tc>
                <a:tc>
                  <a:txBody>
                    <a:bodyPr/>
                    <a:lstStyle/>
                    <a:p>
                      <a:r>
                        <a:t>6</a:t>
                      </a:r>
                    </a:p>
                  </a:txBody>
                  <a:tcPr/>
                </a:tc>
              </a:tr>
              <a:tr h="548640">
                <a:tc>
                  <a:txBody>
                    <a:bodyPr/>
                    <a:lstStyle/>
                    <a:p>
                      <a:r>
                        <a:t>Physics</a:t>
                      </a:r>
                    </a:p>
                  </a:txBody>
                  <a:tcPr/>
                </a:tc>
                <a:tc>
                  <a:txBody>
                    <a:bodyPr/>
                    <a:lstStyle/>
                    <a:p>
                      <a:r>
                        <a:t>1</a:t>
                      </a:r>
                    </a:p>
                  </a:txBody>
                  <a:tcPr/>
                </a:tc>
                <a:tc>
                  <a:txBody>
                    <a:bodyPr/>
                    <a:lstStyle/>
                    <a:p>
                      <a:r>
                        <a:t>2</a:t>
                      </a:r>
                    </a:p>
                  </a:txBody>
                  <a:tcPr/>
                </a:tc>
                <a:tc>
                  <a:txBody>
                    <a:bodyPr/>
                    <a:lstStyle/>
                    <a:p>
                      <a:r>
                        <a:t>1</a:t>
                      </a:r>
                    </a:p>
                  </a:txBody>
                  <a:tcPr/>
                </a:tc>
                <a:tc>
                  <a:txBody>
                    <a:bodyPr/>
                    <a:lstStyle/>
                    <a:p>
                      <a:r>
                        <a:t>0</a:t>
                      </a:r>
                    </a:p>
                  </a:txBody>
                  <a:tcPr/>
                </a:tc>
                <a:tc>
                  <a:txBody>
                    <a:bodyPr/>
                    <a:lstStyle/>
                    <a:p>
                      <a:r>
                        <a:t>0</a:t>
                      </a:r>
                    </a:p>
                  </a:txBody>
                  <a:tcPr/>
                </a:tc>
                <a:tc>
                  <a:txBody>
                    <a:bodyPr/>
                    <a:lstStyle/>
                    <a:p>
                      <a:r>
                        <a:t>4</a:t>
                      </a:r>
                    </a:p>
                  </a:txBody>
                  <a:tcPr/>
                </a:tc>
              </a:tr>
              <a:tr h="548640">
                <a:tc>
                  <a:txBody>
                    <a:bodyPr/>
                    <a:lstStyle/>
                    <a:p>
                      <a:r>
                        <a:t>Political Science</a:t>
                      </a:r>
                    </a:p>
                  </a:txBody>
                  <a:tcPr/>
                </a:tc>
                <a:tc>
                  <a:txBody>
                    <a:bodyPr/>
                    <a:lstStyle/>
                    <a:p>
                      <a:r>
                        <a:t>2</a:t>
                      </a:r>
                    </a:p>
                  </a:txBody>
                  <a:tcPr/>
                </a:tc>
                <a:tc>
                  <a:txBody>
                    <a:bodyPr/>
                    <a:lstStyle/>
                    <a:p>
                      <a:r>
                        <a:t>2</a:t>
                      </a:r>
                    </a:p>
                  </a:txBody>
                  <a:tcPr/>
                </a:tc>
                <a:tc>
                  <a:txBody>
                    <a:bodyPr/>
                    <a:lstStyle/>
                    <a:p>
                      <a:r>
                        <a:t>1</a:t>
                      </a:r>
                    </a:p>
                  </a:txBody>
                  <a:tcPr/>
                </a:tc>
                <a:tc>
                  <a:txBody>
                    <a:bodyPr/>
                    <a:lstStyle/>
                    <a:p>
                      <a:r>
                        <a:t>0</a:t>
                      </a:r>
                    </a:p>
                  </a:txBody>
                  <a:tcPr/>
                </a:tc>
                <a:tc>
                  <a:txBody>
                    <a:bodyPr/>
                    <a:lstStyle/>
                    <a:p>
                      <a:r>
                        <a:t>0</a:t>
                      </a:r>
                    </a:p>
                  </a:txBody>
                  <a:tcPr/>
                </a:tc>
                <a:tc>
                  <a:txBody>
                    <a:bodyPr/>
                    <a:lstStyle/>
                    <a:p>
                      <a:r>
                        <a:t>5</a:t>
                      </a:r>
                    </a:p>
                  </a:txBody>
                  <a:tcPr/>
                </a:tc>
              </a:tr>
              <a:tr h="548640">
                <a:tc>
                  <a:txBody>
                    <a:bodyPr/>
                    <a:lstStyle/>
                    <a:p>
                      <a:r>
                        <a:t>Psychology</a:t>
                      </a:r>
                    </a:p>
                  </a:txBody>
                  <a:tcPr/>
                </a:tc>
                <a:tc>
                  <a:txBody>
                    <a:bodyPr/>
                    <a:lstStyle/>
                    <a:p>
                      <a:r>
                        <a:t>1</a:t>
                      </a:r>
                    </a:p>
                  </a:txBody>
                  <a:tcPr/>
                </a:tc>
                <a:tc>
                  <a:txBody>
                    <a:bodyPr/>
                    <a:lstStyle/>
                    <a:p>
                      <a:r>
                        <a:t>2</a:t>
                      </a:r>
                    </a:p>
                  </a:txBody>
                  <a:tcPr/>
                </a:tc>
                <a:tc>
                  <a:txBody>
                    <a:bodyPr/>
                    <a:lstStyle/>
                    <a:p>
                      <a:r>
                        <a:t>0</a:t>
                      </a:r>
                    </a:p>
                  </a:txBody>
                  <a:tcPr/>
                </a:tc>
                <a:tc>
                  <a:txBody>
                    <a:bodyPr/>
                    <a:lstStyle/>
                    <a:p>
                      <a:r>
                        <a:t>0</a:t>
                      </a:r>
                    </a:p>
                  </a:txBody>
                  <a:tcPr/>
                </a:tc>
                <a:tc>
                  <a:txBody>
                    <a:bodyPr/>
                    <a:lstStyle/>
                    <a:p>
                      <a:r>
                        <a:t>0</a:t>
                      </a:r>
                    </a:p>
                  </a:txBody>
                  <a:tcPr/>
                </a:tc>
                <a:tc>
                  <a:txBody>
                    <a:bodyPr/>
                    <a:lstStyle/>
                    <a:p>
                      <a:r>
                        <a:t>3</a:t>
                      </a:r>
                    </a:p>
                  </a:txBody>
                  <a:tcPr/>
                </a:tc>
              </a:tr>
              <a:tr h="548640">
                <a:tc>
                  <a:txBody>
                    <a:bodyPr/>
                    <a:lstStyle/>
                    <a:p>
                      <a:r>
                        <a:t>Public Health</a:t>
                      </a:r>
                    </a:p>
                  </a:txBody>
                  <a:tcPr/>
                </a:tc>
                <a:tc>
                  <a:txBody>
                    <a:bodyPr/>
                    <a:lstStyle/>
                    <a:p>
                      <a:r>
                        <a:t>3</a:t>
                      </a:r>
                    </a:p>
                  </a:txBody>
                  <a:tcPr/>
                </a:tc>
                <a:tc>
                  <a:txBody>
                    <a:bodyPr/>
                    <a:lstStyle/>
                    <a:p>
                      <a:r>
                        <a:t>6</a:t>
                      </a:r>
                    </a:p>
                  </a:txBody>
                  <a:tcPr/>
                </a:tc>
                <a:tc>
                  <a:txBody>
                    <a:bodyPr/>
                    <a:lstStyle/>
                    <a:p>
                      <a:r>
                        <a:t>0</a:t>
                      </a:r>
                    </a:p>
                  </a:txBody>
                  <a:tcPr/>
                </a:tc>
                <a:tc>
                  <a:txBody>
                    <a:bodyPr/>
                    <a:lstStyle/>
                    <a:p>
                      <a:r>
                        <a:t>1</a:t>
                      </a:r>
                    </a:p>
                  </a:txBody>
                  <a:tcPr/>
                </a:tc>
                <a:tc>
                  <a:txBody>
                    <a:bodyPr/>
                    <a:lstStyle/>
                    <a:p>
                      <a:r>
                        <a:t>0</a:t>
                      </a:r>
                    </a:p>
                  </a:txBody>
                  <a:tcPr/>
                </a:tc>
                <a:tc>
                  <a:txBody>
                    <a:bodyPr/>
                    <a:lstStyle/>
                    <a:p>
                      <a:r>
                        <a:t>10</a:t>
                      </a:r>
                    </a:p>
                  </a:txBody>
                  <a:tcPr/>
                </a:tc>
              </a:tr>
              <a:tr h="548640">
                <a:tc>
                  <a:txBody>
                    <a:bodyPr/>
                    <a:lstStyle/>
                    <a:p>
                      <a:r>
                        <a:t>Total</a:t>
                      </a:r>
                    </a:p>
                  </a:txBody>
                  <a:tcPr/>
                </a:tc>
                <a:tc>
                  <a:txBody>
                    <a:bodyPr/>
                    <a:lstStyle/>
                    <a:p>
                      <a:r>
                        <a:t>16</a:t>
                      </a:r>
                    </a:p>
                  </a:txBody>
                  <a:tcPr/>
                </a:tc>
                <a:tc>
                  <a:txBody>
                    <a:bodyPr/>
                    <a:lstStyle/>
                    <a:p>
                      <a:r>
                        <a:t>27</a:t>
                      </a:r>
                    </a:p>
                  </a:txBody>
                  <a:tcPr/>
                </a:tc>
                <a:tc>
                  <a:txBody>
                    <a:bodyPr/>
                    <a:lstStyle/>
                    <a:p>
                      <a:r>
                        <a:t>4</a:t>
                      </a:r>
                    </a:p>
                  </a:txBody>
                  <a:tcPr/>
                </a:tc>
                <a:tc>
                  <a:txBody>
                    <a:bodyPr/>
                    <a:lstStyle/>
                    <a:p>
                      <a:r>
                        <a:t>1</a:t>
                      </a:r>
                    </a:p>
                  </a:txBody>
                  <a:tcPr/>
                </a:tc>
                <a:tc>
                  <a:txBody>
                    <a:bodyPr/>
                    <a:lstStyle/>
                    <a:p>
                      <a:r>
                        <a:t>2</a:t>
                      </a:r>
                    </a:p>
                  </a:txBody>
                  <a:tcPr/>
                </a:tc>
                <a:tc>
                  <a:txBody>
                    <a:bodyPr/>
                    <a:lstStyle/>
                    <a:p>
                      <a:r>
                        <a:t>50</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Table 2. Difference-in-differences estimates of the effect of evacuation orders on log crude death rate, 2012-2019 versus 2006-2010, 2011 excluded. Permutation p-values from 1000 random re-assignments of treatment among control municipalities; pre-trend p from the same distribution of the sum of squared 2006-2009 event-study coefficients. Excess deaths are implied by the estimate applied to observed deaths.</a:t>
            </a:r>
          </a:p>
        </p:txBody>
      </p:sp>
      <p:graphicFrame>
        <p:nvGraphicFramePr>
          <p:cNvPr id="3" name="Table 2"/>
          <p:cNvGraphicFramePr>
            <a:graphicFrameLocks noGrp="1"/>
          </p:cNvGraphicFramePr>
          <p:nvPr/>
        </p:nvGraphicFramePr>
        <p:xfrm>
          <a:off x="274320" y="731520"/>
          <a:ext cx="11612880" cy="5486400"/>
        </p:xfrm>
        <a:graphic>
          <a:graphicData uri="http://schemas.openxmlformats.org/drawingml/2006/table">
            <a:tbl>
              <a:tblPr firstRow="1" bandRow="1">
                <a:tableStyleId>{5C22544A-7EE6-4342-B048-85BDC9FD1C3A}</a:tableStyleId>
              </a:tblPr>
              <a:tblGrid>
                <a:gridCol w="1451610"/>
                <a:gridCol w="1451610"/>
                <a:gridCol w="1451610"/>
                <a:gridCol w="1451610"/>
                <a:gridCol w="1451610"/>
                <a:gridCol w="1451610"/>
                <a:gridCol w="1451610"/>
                <a:gridCol w="1451610"/>
              </a:tblGrid>
              <a:tr h="422030">
                <a:tc>
                  <a:txBody>
                    <a:bodyPr/>
                    <a:lstStyle/>
                    <a:p>
                      <a:r>
                        <a:t>Group</a:t>
                      </a:r>
                    </a:p>
                  </a:txBody>
                  <a:tcPr/>
                </a:tc>
                <a:tc>
                  <a:txBody>
                    <a:bodyPr/>
                    <a:lstStyle/>
                    <a:p>
                      <a:r>
                        <a:t>Controls</a:t>
                      </a:r>
                    </a:p>
                  </a:txBody>
                  <a:tcPr/>
                </a:tc>
                <a:tc>
                  <a:txBody>
                    <a:bodyPr/>
                    <a:lstStyle/>
                    <a:p>
                      <a:r>
                        <a:t>Weighting</a:t>
                      </a:r>
                    </a:p>
                  </a:txBody>
                  <a:tcPr/>
                </a:tc>
                <a:tc>
                  <a:txBody>
                    <a:bodyPr/>
                    <a:lstStyle/>
                    <a:p>
                      <a:r>
                        <a:t>Age control</a:t>
                      </a:r>
                    </a:p>
                  </a:txBody>
                  <a:tcPr/>
                </a:tc>
                <a:tc>
                  <a:txBody>
                    <a:bodyPr/>
                    <a:lstStyle/>
                    <a:p>
                      <a:r>
                        <a:t>ATT (log points)</a:t>
                      </a:r>
                    </a:p>
                  </a:txBody>
                  <a:tcPr/>
                </a:tc>
                <a:tc>
                  <a:txBody>
                    <a:bodyPr/>
                    <a:lstStyle/>
                    <a:p>
                      <a:r>
                        <a:t>Permutation p</a:t>
                      </a:r>
                    </a:p>
                  </a:txBody>
                  <a:tcPr/>
                </a:tc>
                <a:tc>
                  <a:txBody>
                    <a:bodyPr/>
                    <a:lstStyle/>
                    <a:p>
                      <a:r>
                        <a:t>Pre-trend p</a:t>
                      </a:r>
                    </a:p>
                  </a:txBody>
                  <a:tcPr/>
                </a:tc>
                <a:tc>
                  <a:txBody>
                    <a:bodyPr/>
                    <a:lstStyle/>
                    <a:p>
                      <a:r>
                        <a:t>Implied deaths 2012-2019</a:t>
                      </a:r>
                    </a:p>
                  </a:txBody>
                  <a:tcPr/>
                </a:tc>
              </a:tr>
              <a:tr h="422030">
                <a:tc>
                  <a:txBody>
                    <a:bodyPr/>
                    <a:lstStyle/>
                    <a:p>
                      <a:r>
                        <a:t>T1</a:t>
                      </a:r>
                    </a:p>
                  </a:txBody>
                  <a:tcPr/>
                </a:tc>
                <a:tc>
                  <a:txBody>
                    <a:bodyPr/>
                    <a:lstStyle/>
                    <a:p>
                      <a:r>
                        <a:t>All prefectures</a:t>
                      </a:r>
                    </a:p>
                  </a:txBody>
                  <a:tcPr/>
                </a:tc>
                <a:tc>
                  <a:txBody>
                    <a:bodyPr/>
                    <a:lstStyle/>
                    <a:p>
                      <a:r>
                        <a:t>Weighted</a:t>
                      </a:r>
                    </a:p>
                  </a:txBody>
                  <a:tcPr/>
                </a:tc>
                <a:tc>
                  <a:txBody>
                    <a:bodyPr/>
                    <a:lstStyle/>
                    <a:p>
                      <a:r>
                        <a:t>No</a:t>
                      </a:r>
                    </a:p>
                  </a:txBody>
                  <a:tcPr/>
                </a:tc>
                <a:tc>
                  <a:txBody>
                    <a:bodyPr/>
                    <a:lstStyle/>
                    <a:p>
                      <a:r>
                        <a:t>-0.057</a:t>
                      </a:r>
                    </a:p>
                  </a:txBody>
                  <a:tcPr/>
                </a:tc>
                <a:tc>
                  <a:txBody>
                    <a:bodyPr/>
                    <a:lstStyle/>
                    <a:p>
                      <a:r>
                        <a:t>0.002</a:t>
                      </a:r>
                    </a:p>
                  </a:txBody>
                  <a:tcPr/>
                </a:tc>
                <a:tc>
                  <a:txBody>
                    <a:bodyPr/>
                    <a:lstStyle/>
                    <a:p>
                      <a:r>
                        <a:t>0.268</a:t>
                      </a:r>
                    </a:p>
                  </a:txBody>
                  <a:tcPr/>
                </a:tc>
                <a:tc>
                  <a:txBody>
                    <a:bodyPr/>
                    <a:lstStyle/>
                    <a:p>
                      <a:r>
                        <a:t>-877</a:t>
                      </a:r>
                    </a:p>
                  </a:txBody>
                  <a:tcPr/>
                </a:tc>
              </a:tr>
              <a:tr h="422030">
                <a:tc>
                  <a:txBody>
                    <a:bodyPr/>
                    <a:lstStyle/>
                    <a:p>
                      <a:r>
                        <a:t>T1</a:t>
                      </a:r>
                    </a:p>
                  </a:txBody>
                  <a:tcPr/>
                </a:tc>
                <a:tc>
                  <a:txBody>
                    <a:bodyPr/>
                    <a:lstStyle/>
                    <a:p>
                      <a:r>
                        <a:t>All prefectures</a:t>
                      </a:r>
                    </a:p>
                  </a:txBody>
                  <a:tcPr/>
                </a:tc>
                <a:tc>
                  <a:txBody>
                    <a:bodyPr/>
                    <a:lstStyle/>
                    <a:p>
                      <a:r>
                        <a:t>Weighted</a:t>
                      </a:r>
                    </a:p>
                  </a:txBody>
                  <a:tcPr/>
                </a:tc>
                <a:tc>
                  <a:txBody>
                    <a:bodyPr/>
                    <a:lstStyle/>
                    <a:p>
                      <a:r>
                        <a:t>Yes</a:t>
                      </a:r>
                    </a:p>
                  </a:txBody>
                  <a:tcPr/>
                </a:tc>
                <a:tc>
                  <a:txBody>
                    <a:bodyPr/>
                    <a:lstStyle/>
                    <a:p>
                      <a:r>
                        <a:t>-0.066</a:t>
                      </a:r>
                    </a:p>
                  </a:txBody>
                  <a:tcPr/>
                </a:tc>
                <a:tc>
                  <a:txBody>
                    <a:bodyPr/>
                    <a:lstStyle/>
                    <a:p>
                      <a:r>
                        <a:t>&lt; 0.001</a:t>
                      </a:r>
                    </a:p>
                  </a:txBody>
                  <a:tcPr/>
                </a:tc>
                <a:tc>
                  <a:txBody>
                    <a:bodyPr/>
                    <a:lstStyle/>
                    <a:p>
                      <a:r>
                        <a:t>0.335</a:t>
                      </a:r>
                    </a:p>
                  </a:txBody>
                  <a:tcPr/>
                </a:tc>
                <a:tc>
                  <a:txBody>
                    <a:bodyPr/>
                    <a:lstStyle/>
                    <a:p>
                      <a:r>
                        <a:t>-1,018</a:t>
                      </a:r>
                    </a:p>
                  </a:txBody>
                  <a:tcPr/>
                </a:tc>
              </a:tr>
              <a:tr h="422030">
                <a:tc>
                  <a:txBody>
                    <a:bodyPr/>
                    <a:lstStyle/>
                    <a:p>
                      <a:r>
                        <a:t>T1</a:t>
                      </a:r>
                    </a:p>
                  </a:txBody>
                  <a:tcPr/>
                </a:tc>
                <a:tc>
                  <a:txBody>
                    <a:bodyPr/>
                    <a:lstStyle/>
                    <a:p>
                      <a:r>
                        <a:t>All prefectures</a:t>
                      </a:r>
                    </a:p>
                  </a:txBody>
                  <a:tcPr/>
                </a:tc>
                <a:tc>
                  <a:txBody>
                    <a:bodyPr/>
                    <a:lstStyle/>
                    <a:p>
                      <a:r>
                        <a:t>Unweighted</a:t>
                      </a:r>
                    </a:p>
                  </a:txBody>
                  <a:tcPr/>
                </a:tc>
                <a:tc>
                  <a:txBody>
                    <a:bodyPr/>
                    <a:lstStyle/>
                    <a:p>
                      <a:r>
                        <a:t>No</a:t>
                      </a:r>
                    </a:p>
                  </a:txBody>
                  <a:tcPr/>
                </a:tc>
                <a:tc>
                  <a:txBody>
                    <a:bodyPr/>
                    <a:lstStyle/>
                    <a:p>
                      <a:r>
                        <a:t>-0.072</a:t>
                      </a:r>
                    </a:p>
                  </a:txBody>
                  <a:tcPr/>
                </a:tc>
                <a:tc>
                  <a:txBody>
                    <a:bodyPr/>
                    <a:lstStyle/>
                    <a:p>
                      <a:r>
                        <a:t>0.002</a:t>
                      </a:r>
                    </a:p>
                  </a:txBody>
                  <a:tcPr/>
                </a:tc>
                <a:tc>
                  <a:txBody>
                    <a:bodyPr/>
                    <a:lstStyle/>
                    <a:p>
                      <a:r>
                        <a:t>0.039</a:t>
                      </a:r>
                    </a:p>
                  </a:txBody>
                  <a:tcPr/>
                </a:tc>
                <a:tc>
                  <a:txBody>
                    <a:bodyPr/>
                    <a:lstStyle/>
                    <a:p>
                      <a:r>
                        <a:t>-1,123</a:t>
                      </a:r>
                    </a:p>
                  </a:txBody>
                  <a:tcPr/>
                </a:tc>
              </a:tr>
              <a:tr h="422030">
                <a:tc>
                  <a:txBody>
                    <a:bodyPr/>
                    <a:lstStyle/>
                    <a:p>
                      <a:r>
                        <a:t>T1</a:t>
                      </a:r>
                    </a:p>
                  </a:txBody>
                  <a:tcPr/>
                </a:tc>
                <a:tc>
                  <a:txBody>
                    <a:bodyPr/>
                    <a:lstStyle/>
                    <a:p>
                      <a:r>
                        <a:t>All prefectures</a:t>
                      </a:r>
                    </a:p>
                  </a:txBody>
                  <a:tcPr/>
                </a:tc>
                <a:tc>
                  <a:txBody>
                    <a:bodyPr/>
                    <a:lstStyle/>
                    <a:p>
                      <a:r>
                        <a:t>Unweighted</a:t>
                      </a:r>
                    </a:p>
                  </a:txBody>
                  <a:tcPr/>
                </a:tc>
                <a:tc>
                  <a:txBody>
                    <a:bodyPr/>
                    <a:lstStyle/>
                    <a:p>
                      <a:r>
                        <a:t>Yes</a:t>
                      </a:r>
                    </a:p>
                  </a:txBody>
                  <a:tcPr/>
                </a:tc>
                <a:tc>
                  <a:txBody>
                    <a:bodyPr/>
                    <a:lstStyle/>
                    <a:p>
                      <a:r>
                        <a:t>-0.072</a:t>
                      </a:r>
                    </a:p>
                  </a:txBody>
                  <a:tcPr/>
                </a:tc>
                <a:tc>
                  <a:txBody>
                    <a:bodyPr/>
                    <a:lstStyle/>
                    <a:p>
                      <a:r>
                        <a:t>&lt; 0.001</a:t>
                      </a:r>
                    </a:p>
                  </a:txBody>
                  <a:tcPr/>
                </a:tc>
                <a:tc>
                  <a:txBody>
                    <a:bodyPr/>
                    <a:lstStyle/>
                    <a:p>
                      <a:r>
                        <a:t>0.035</a:t>
                      </a:r>
                    </a:p>
                  </a:txBody>
                  <a:tcPr/>
                </a:tc>
                <a:tc>
                  <a:txBody>
                    <a:bodyPr/>
                    <a:lstStyle/>
                    <a:p>
                      <a:r>
                        <a:t>-1,109</a:t>
                      </a:r>
                    </a:p>
                  </a:txBody>
                  <a:tcPr/>
                </a:tc>
              </a:tr>
              <a:tr h="422030">
                <a:tc>
                  <a:txBody>
                    <a:bodyPr/>
                    <a:lstStyle/>
                    <a:p>
                      <a:r>
                        <a:t>T1</a:t>
                      </a:r>
                    </a:p>
                  </a:txBody>
                  <a:tcPr/>
                </a:tc>
                <a:tc>
                  <a:txBody>
                    <a:bodyPr/>
                    <a:lstStyle/>
                    <a:p>
                      <a:r>
                        <a:t>Fukushima only</a:t>
                      </a:r>
                    </a:p>
                  </a:txBody>
                  <a:tcPr/>
                </a:tc>
                <a:tc>
                  <a:txBody>
                    <a:bodyPr/>
                    <a:lstStyle/>
                    <a:p>
                      <a:r>
                        <a:t>Weighted</a:t>
                      </a:r>
                    </a:p>
                  </a:txBody>
                  <a:tcPr/>
                </a:tc>
                <a:tc>
                  <a:txBody>
                    <a:bodyPr/>
                    <a:lstStyle/>
                    <a:p>
                      <a:r>
                        <a:t>No</a:t>
                      </a:r>
                    </a:p>
                  </a:txBody>
                  <a:tcPr/>
                </a:tc>
                <a:tc>
                  <a:txBody>
                    <a:bodyPr/>
                    <a:lstStyle/>
                    <a:p>
                      <a:r>
                        <a:t>-0.085</a:t>
                      </a:r>
                    </a:p>
                  </a:txBody>
                  <a:tcPr/>
                </a:tc>
                <a:tc>
                  <a:txBody>
                    <a:bodyPr/>
                    <a:lstStyle/>
                    <a:p>
                      <a:r>
                        <a:t>&lt; 0.001</a:t>
                      </a:r>
                    </a:p>
                  </a:txBody>
                  <a:tcPr/>
                </a:tc>
                <a:tc>
                  <a:txBody>
                    <a:bodyPr/>
                    <a:lstStyle/>
                    <a:p>
                      <a:r>
                        <a:t>0.847</a:t>
                      </a:r>
                    </a:p>
                  </a:txBody>
                  <a:tcPr/>
                </a:tc>
                <a:tc>
                  <a:txBody>
                    <a:bodyPr/>
                    <a:lstStyle/>
                    <a:p>
                      <a:r>
                        <a:t>-1,333</a:t>
                      </a:r>
                    </a:p>
                  </a:txBody>
                  <a:tcPr/>
                </a:tc>
              </a:tr>
              <a:tr h="422030">
                <a:tc>
                  <a:txBody>
                    <a:bodyPr/>
                    <a:lstStyle/>
                    <a:p>
                      <a:r>
                        <a:t>T1</a:t>
                      </a:r>
                    </a:p>
                  </a:txBody>
                  <a:tcPr/>
                </a:tc>
                <a:tc>
                  <a:txBody>
                    <a:bodyPr/>
                    <a:lstStyle/>
                    <a:p>
                      <a:r>
                        <a:t>Fukushima only</a:t>
                      </a:r>
                    </a:p>
                  </a:txBody>
                  <a:tcPr/>
                </a:tc>
                <a:tc>
                  <a:txBody>
                    <a:bodyPr/>
                    <a:lstStyle/>
                    <a:p>
                      <a:r>
                        <a:t>Weighted</a:t>
                      </a:r>
                    </a:p>
                  </a:txBody>
                  <a:tcPr/>
                </a:tc>
                <a:tc>
                  <a:txBody>
                    <a:bodyPr/>
                    <a:lstStyle/>
                    <a:p>
                      <a:r>
                        <a:t>Yes</a:t>
                      </a:r>
                    </a:p>
                  </a:txBody>
                  <a:tcPr/>
                </a:tc>
                <a:tc>
                  <a:txBody>
                    <a:bodyPr/>
                    <a:lstStyle/>
                    <a:p>
                      <a:r>
                        <a:t>-0.083</a:t>
                      </a:r>
                    </a:p>
                  </a:txBody>
                  <a:tcPr/>
                </a:tc>
                <a:tc>
                  <a:txBody>
                    <a:bodyPr/>
                    <a:lstStyle/>
                    <a:p>
                      <a:r>
                        <a:t>&lt; 0.001</a:t>
                      </a:r>
                    </a:p>
                  </a:txBody>
                  <a:tcPr/>
                </a:tc>
                <a:tc>
                  <a:txBody>
                    <a:bodyPr/>
                    <a:lstStyle/>
                    <a:p>
                      <a:r>
                        <a:t>0.863</a:t>
                      </a:r>
                    </a:p>
                  </a:txBody>
                  <a:tcPr/>
                </a:tc>
                <a:tc>
                  <a:txBody>
                    <a:bodyPr/>
                    <a:lstStyle/>
                    <a:p>
                      <a:r>
                        <a:t>-1,291</a:t>
                      </a:r>
                    </a:p>
                  </a:txBody>
                  <a:tcPr/>
                </a:tc>
              </a:tr>
              <a:tr h="422030">
                <a:tc>
                  <a:txBody>
                    <a:bodyPr/>
                    <a:lstStyle/>
                    <a:p>
                      <a:r>
                        <a:t>T1</a:t>
                      </a:r>
                    </a:p>
                  </a:txBody>
                  <a:tcPr/>
                </a:tc>
                <a:tc>
                  <a:txBody>
                    <a:bodyPr/>
                    <a:lstStyle/>
                    <a:p>
                      <a:r>
                        <a:t>Fukushima only</a:t>
                      </a:r>
                    </a:p>
                  </a:txBody>
                  <a:tcPr/>
                </a:tc>
                <a:tc>
                  <a:txBody>
                    <a:bodyPr/>
                    <a:lstStyle/>
                    <a:p>
                      <a:r>
                        <a:t>Unweighted</a:t>
                      </a:r>
                    </a:p>
                  </a:txBody>
                  <a:tcPr/>
                </a:tc>
                <a:tc>
                  <a:txBody>
                    <a:bodyPr/>
                    <a:lstStyle/>
                    <a:p>
                      <a:r>
                        <a:t>No</a:t>
                      </a:r>
                    </a:p>
                  </a:txBody>
                  <a:tcPr/>
                </a:tc>
                <a:tc>
                  <a:txBody>
                    <a:bodyPr/>
                    <a:lstStyle/>
                    <a:p>
                      <a:r>
                        <a:t>-0.085</a:t>
                      </a:r>
                    </a:p>
                  </a:txBody>
                  <a:tcPr/>
                </a:tc>
                <a:tc>
                  <a:txBody>
                    <a:bodyPr/>
                    <a:lstStyle/>
                    <a:p>
                      <a:r>
                        <a:t>0.001</a:t>
                      </a:r>
                    </a:p>
                  </a:txBody>
                  <a:tcPr/>
                </a:tc>
                <a:tc>
                  <a:txBody>
                    <a:bodyPr/>
                    <a:lstStyle/>
                    <a:p>
                      <a:r>
                        <a:t>0.314</a:t>
                      </a:r>
                    </a:p>
                  </a:txBody>
                  <a:tcPr/>
                </a:tc>
                <a:tc>
                  <a:txBody>
                    <a:bodyPr/>
                    <a:lstStyle/>
                    <a:p>
                      <a:r>
                        <a:t>-1,322</a:t>
                      </a:r>
                    </a:p>
                  </a:txBody>
                  <a:tcPr/>
                </a:tc>
              </a:tr>
              <a:tr h="422030">
                <a:tc>
                  <a:txBody>
                    <a:bodyPr/>
                    <a:lstStyle/>
                    <a:p>
                      <a:r>
                        <a:t>T1</a:t>
                      </a:r>
                    </a:p>
                  </a:txBody>
                  <a:tcPr/>
                </a:tc>
                <a:tc>
                  <a:txBody>
                    <a:bodyPr/>
                    <a:lstStyle/>
                    <a:p>
                      <a:r>
                        <a:t>Fukushima only</a:t>
                      </a:r>
                    </a:p>
                  </a:txBody>
                  <a:tcPr/>
                </a:tc>
                <a:tc>
                  <a:txBody>
                    <a:bodyPr/>
                    <a:lstStyle/>
                    <a:p>
                      <a:r>
                        <a:t>Unweighted</a:t>
                      </a:r>
                    </a:p>
                  </a:txBody>
                  <a:tcPr/>
                </a:tc>
                <a:tc>
                  <a:txBody>
                    <a:bodyPr/>
                    <a:lstStyle/>
                    <a:p>
                      <a:r>
                        <a:t>Yes</a:t>
                      </a:r>
                    </a:p>
                  </a:txBody>
                  <a:tcPr/>
                </a:tc>
                <a:tc>
                  <a:txBody>
                    <a:bodyPr/>
                    <a:lstStyle/>
                    <a:p>
                      <a:r>
                        <a:t>-0.079</a:t>
                      </a:r>
                    </a:p>
                  </a:txBody>
                  <a:tcPr/>
                </a:tc>
                <a:tc>
                  <a:txBody>
                    <a:bodyPr/>
                    <a:lstStyle/>
                    <a:p>
                      <a:r>
                        <a:t>0.005</a:t>
                      </a:r>
                    </a:p>
                  </a:txBody>
                  <a:tcPr/>
                </a:tc>
                <a:tc>
                  <a:txBody>
                    <a:bodyPr/>
                    <a:lstStyle/>
                    <a:p>
                      <a:r>
                        <a:t>0.275</a:t>
                      </a:r>
                    </a:p>
                  </a:txBody>
                  <a:tcPr/>
                </a:tc>
                <a:tc>
                  <a:txBody>
                    <a:bodyPr/>
                    <a:lstStyle/>
                    <a:p>
                      <a:r>
                        <a:t>-1,224</a:t>
                      </a:r>
                    </a:p>
                  </a:txBody>
                  <a:tcPr/>
                </a:tc>
              </a:tr>
              <a:tr h="422030">
                <a:tc>
                  <a:txBody>
                    <a:bodyPr/>
                    <a:lstStyle/>
                    <a:p>
                      <a:r>
                        <a:t>T1w</a:t>
                      </a:r>
                    </a:p>
                  </a:txBody>
                  <a:tcPr/>
                </a:tc>
                <a:tc>
                  <a:txBody>
                    <a:bodyPr/>
                    <a:lstStyle/>
                    <a:p>
                      <a:r>
                        <a:t>All prefectures</a:t>
                      </a:r>
                    </a:p>
                  </a:txBody>
                  <a:tcPr/>
                </a:tc>
                <a:tc>
                  <a:txBody>
                    <a:bodyPr/>
                    <a:lstStyle/>
                    <a:p>
                      <a:r>
                        <a:t>Unweighted</a:t>
                      </a:r>
                    </a:p>
                  </a:txBody>
                  <a:tcPr/>
                </a:tc>
                <a:tc>
                  <a:txBody>
                    <a:bodyPr/>
                    <a:lstStyle/>
                    <a:p>
                      <a:r>
                        <a:t>No</a:t>
                      </a:r>
                    </a:p>
                  </a:txBody>
                  <a:tcPr/>
                </a:tc>
                <a:tc>
                  <a:txBody>
                    <a:bodyPr/>
                    <a:lstStyle/>
                    <a:p>
                      <a:r>
                        <a:t>-0.116</a:t>
                      </a:r>
                    </a:p>
                  </a:txBody>
                  <a:tcPr/>
                </a:tc>
                <a:tc>
                  <a:txBody>
                    <a:bodyPr/>
                    <a:lstStyle/>
                    <a:p>
                      <a:r>
                        <a:t>0.003</a:t>
                      </a:r>
                    </a:p>
                  </a:txBody>
                  <a:tcPr/>
                </a:tc>
                <a:tc>
                  <a:txBody>
                    <a:bodyPr/>
                    <a:lstStyle/>
                    <a:p>
                      <a:r>
                        <a:t>0.170</a:t>
                      </a:r>
                    </a:p>
                  </a:txBody>
                  <a:tcPr/>
                </a:tc>
                <a:tc>
                  <a:txBody>
                    <a:bodyPr/>
                    <a:lstStyle/>
                    <a:p>
                      <a:r>
                        <a:t>-405</a:t>
                      </a:r>
                    </a:p>
                  </a:txBody>
                  <a:tcPr/>
                </a:tc>
              </a:tr>
              <a:tr h="422030">
                <a:tc>
                  <a:txBody>
                    <a:bodyPr/>
                    <a:lstStyle/>
                    <a:p>
                      <a:r>
                        <a:t>T1w</a:t>
                      </a:r>
                    </a:p>
                  </a:txBody>
                  <a:tcPr/>
                </a:tc>
                <a:tc>
                  <a:txBody>
                    <a:bodyPr/>
                    <a:lstStyle/>
                    <a:p>
                      <a:r>
                        <a:t>Fukushima only</a:t>
                      </a:r>
                    </a:p>
                  </a:txBody>
                  <a:tcPr/>
                </a:tc>
                <a:tc>
                  <a:txBody>
                    <a:bodyPr/>
                    <a:lstStyle/>
                    <a:p>
                      <a:r>
                        <a:t>Unweighted</a:t>
                      </a:r>
                    </a:p>
                  </a:txBody>
                  <a:tcPr/>
                </a:tc>
                <a:tc>
                  <a:txBody>
                    <a:bodyPr/>
                    <a:lstStyle/>
                    <a:p>
                      <a:r>
                        <a:t>No</a:t>
                      </a:r>
                    </a:p>
                  </a:txBody>
                  <a:tcPr/>
                </a:tc>
                <a:tc>
                  <a:txBody>
                    <a:bodyPr/>
                    <a:lstStyle/>
                    <a:p>
                      <a:r>
                        <a:t>-0.129</a:t>
                      </a:r>
                    </a:p>
                  </a:txBody>
                  <a:tcPr/>
                </a:tc>
                <a:tc>
                  <a:txBody>
                    <a:bodyPr/>
                    <a:lstStyle/>
                    <a:p>
                      <a:r>
                        <a:t>&lt; 0.001</a:t>
                      </a:r>
                    </a:p>
                  </a:txBody>
                  <a:tcPr/>
                </a:tc>
                <a:tc>
                  <a:txBody>
                    <a:bodyPr/>
                    <a:lstStyle/>
                    <a:p>
                      <a:r>
                        <a:t>0.498</a:t>
                      </a:r>
                    </a:p>
                  </a:txBody>
                  <a:tcPr/>
                </a:tc>
                <a:tc>
                  <a:txBody>
                    <a:bodyPr/>
                    <a:lstStyle/>
                    <a:p>
                      <a:r>
                        <a:t>-451</a:t>
                      </a:r>
                    </a:p>
                  </a:txBody>
                  <a:tcPr/>
                </a:tc>
              </a:tr>
              <a:tr h="422030">
                <a:tc>
                  <a:txBody>
                    <a:bodyPr/>
                    <a:lstStyle/>
                    <a:p>
                      <a:r>
                        <a:t>T2</a:t>
                      </a:r>
                    </a:p>
                  </a:txBody>
                  <a:tcPr/>
                </a:tc>
                <a:tc>
                  <a:txBody>
                    <a:bodyPr/>
                    <a:lstStyle/>
                    <a:p>
                      <a:r>
                        <a:t>All prefectures</a:t>
                      </a:r>
                    </a:p>
                  </a:txBody>
                  <a:tcPr/>
                </a:tc>
                <a:tc>
                  <a:txBody>
                    <a:bodyPr/>
                    <a:lstStyle/>
                    <a:p>
                      <a:r>
                        <a:t>Unweighted</a:t>
                      </a:r>
                    </a:p>
                  </a:txBody>
                  <a:tcPr/>
                </a:tc>
                <a:tc>
                  <a:txBody>
                    <a:bodyPr/>
                    <a:lstStyle/>
                    <a:p>
                      <a:r>
                        <a:t>No</a:t>
                      </a:r>
                    </a:p>
                  </a:txBody>
                  <a:tcPr/>
                </a:tc>
                <a:tc>
                  <a:txBody>
                    <a:bodyPr/>
                    <a:lstStyle/>
                    <a:p>
                      <a:r>
                        <a:t>-0.022</a:t>
                      </a:r>
                    </a:p>
                  </a:txBody>
                  <a:tcPr/>
                </a:tc>
                <a:tc>
                  <a:txBody>
                    <a:bodyPr/>
                    <a:lstStyle/>
                    <a:p>
                      <a:r>
                        <a:t>0.581</a:t>
                      </a:r>
                    </a:p>
                  </a:txBody>
                  <a:tcPr/>
                </a:tc>
                <a:tc>
                  <a:txBody>
                    <a:bodyPr/>
                    <a:lstStyle/>
                    <a:p>
                      <a:r>
                        <a:t>0.829</a:t>
                      </a:r>
                    </a:p>
                  </a:txBody>
                  <a:tcPr/>
                </a:tc>
                <a:tc>
                  <a:txBody>
                    <a:bodyPr/>
                    <a:lstStyle/>
                    <a:p>
                      <a:r>
                        <a:t>-93</a:t>
                      </a:r>
                    </a:p>
                  </a:txBody>
                  <a:tcPr/>
                </a:tc>
              </a:tr>
              <a:tr h="422040">
                <a:tc>
                  <a:txBody>
                    <a:bodyPr/>
                    <a:lstStyle/>
                    <a:p>
                      <a:r>
                        <a:t>T2</a:t>
                      </a:r>
                    </a:p>
                  </a:txBody>
                  <a:tcPr/>
                </a:tc>
                <a:tc>
                  <a:txBody>
                    <a:bodyPr/>
                    <a:lstStyle/>
                    <a:p>
                      <a:r>
                        <a:t>Fukushima only</a:t>
                      </a:r>
                    </a:p>
                  </a:txBody>
                  <a:tcPr/>
                </a:tc>
                <a:tc>
                  <a:txBody>
                    <a:bodyPr/>
                    <a:lstStyle/>
                    <a:p>
                      <a:r>
                        <a:t>Unweighted</a:t>
                      </a:r>
                    </a:p>
                  </a:txBody>
                  <a:tcPr/>
                </a:tc>
                <a:tc>
                  <a:txBody>
                    <a:bodyPr/>
                    <a:lstStyle/>
                    <a:p>
                      <a:r>
                        <a:t>No</a:t>
                      </a:r>
                    </a:p>
                  </a:txBody>
                  <a:tcPr/>
                </a:tc>
                <a:tc>
                  <a:txBody>
                    <a:bodyPr/>
                    <a:lstStyle/>
                    <a:p>
                      <a:r>
                        <a:t>-0.034</a:t>
                      </a:r>
                    </a:p>
                  </a:txBody>
                  <a:tcPr/>
                </a:tc>
                <a:tc>
                  <a:txBody>
                    <a:bodyPr/>
                    <a:lstStyle/>
                    <a:p>
                      <a:r>
                        <a:t>0.421</a:t>
                      </a:r>
                    </a:p>
                  </a:txBody>
                  <a:tcPr/>
                </a:tc>
                <a:tc>
                  <a:txBody>
                    <a:bodyPr/>
                    <a:lstStyle/>
                    <a:p>
                      <a:r>
                        <a:t>0.932</a:t>
                      </a:r>
                    </a:p>
                  </a:txBody>
                  <a:tcPr/>
                </a:tc>
                <a:tc>
                  <a:txBody>
                    <a:bodyPr/>
                    <a:lstStyle/>
                    <a:p>
                      <a:r>
                        <a:t>-146</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Table 3. Measured and projected mortality associated with the Fukushima Daiichi accident. Measured quantities are from this paper's estimates or official counts; projected quantities are LNT-based assessments, quoted from the cited source.</a:t>
            </a:r>
          </a:p>
        </p:txBody>
      </p:sp>
      <p:graphicFrame>
        <p:nvGraphicFramePr>
          <p:cNvPr id="3" name="Table 2"/>
          <p:cNvGraphicFramePr>
            <a:graphicFrameLocks noGrp="1"/>
          </p:cNvGraphicFramePr>
          <p:nvPr/>
        </p:nvGraphicFramePr>
        <p:xfrm>
          <a:off x="274320" y="731520"/>
          <a:ext cx="11612880" cy="5486400"/>
        </p:xfrm>
        <a:graphic>
          <a:graphicData uri="http://schemas.openxmlformats.org/drawingml/2006/table">
            <a:tbl>
              <a:tblPr firstRow="1" bandRow="1">
                <a:tableStyleId>{5C22544A-7EE6-4342-B048-85BDC9FD1C3A}</a:tableStyleId>
              </a:tblPr>
              <a:tblGrid>
                <a:gridCol w="2322576"/>
                <a:gridCol w="2322576"/>
                <a:gridCol w="2322576"/>
                <a:gridCol w="2322576"/>
                <a:gridCol w="2322576"/>
              </a:tblGrid>
              <a:tr h="391885">
                <a:tc>
                  <a:txBody>
                    <a:bodyPr/>
                    <a:lstStyle/>
                    <a:p>
                      <a:r>
                        <a:t>Quantity</a:t>
                      </a:r>
                    </a:p>
                  </a:txBody>
                  <a:tcPr/>
                </a:tc>
                <a:tc>
                  <a:txBody>
                    <a:bodyPr/>
                    <a:lstStyle/>
                    <a:p>
                      <a:r>
                        <a:t>Value</a:t>
                      </a:r>
                    </a:p>
                  </a:txBody>
                  <a:tcPr/>
                </a:tc>
                <a:tc>
                  <a:txBody>
                    <a:bodyPr/>
                    <a:lstStyle/>
                    <a:p>
                      <a:r>
                        <a:t>Scope</a:t>
                      </a:r>
                    </a:p>
                  </a:txBody>
                  <a:tcPr/>
                </a:tc>
                <a:tc>
                  <a:txBody>
                    <a:bodyPr/>
                    <a:lstStyle/>
                    <a:p>
                      <a:r>
                        <a:t>Type</a:t>
                      </a:r>
                    </a:p>
                  </a:txBody>
                  <a:tcPr/>
                </a:tc>
                <a:tc>
                  <a:txBody>
                    <a:bodyPr/>
                    <a:lstStyle/>
                    <a:p>
                      <a:r>
                        <a:t>Source</a:t>
                      </a:r>
                    </a:p>
                  </a:txBody>
                  <a:tcPr/>
                </a:tc>
              </a:tr>
              <a:tr h="391885">
                <a:tc>
                  <a:txBody>
                    <a:bodyPr/>
                    <a:lstStyle/>
                    <a:p>
                      <a:r>
                        <a:t>T1 observed deaths 2011</a:t>
                      </a:r>
                    </a:p>
                  </a:txBody>
                  <a:tcPr/>
                </a:tc>
                <a:tc>
                  <a:txBody>
                    <a:bodyPr/>
                    <a:lstStyle/>
                    <a:p>
                      <a:r>
                        <a:t>2,996</a:t>
                      </a:r>
                    </a:p>
                  </a:txBody>
                  <a:tcPr/>
                </a:tc>
                <a:tc>
                  <a:txBody>
                    <a:bodyPr/>
                    <a:lstStyle/>
                    <a:p>
                      <a:r>
                        <a:t>T1 municipalities</a:t>
                      </a:r>
                    </a:p>
                  </a:txBody>
                  <a:tcPr/>
                </a:tc>
                <a:tc>
                  <a:txBody>
                    <a:bodyPr/>
                    <a:lstStyle/>
                    <a:p>
                      <a:r>
                        <a:t>Measured</a:t>
                      </a:r>
                    </a:p>
                  </a:txBody>
                  <a:tcPr/>
                </a:tc>
                <a:tc>
                  <a:txBody>
                    <a:bodyPr/>
                    <a:lstStyle/>
                    <a:p>
                      <a:r>
                        <a:t>This study</a:t>
                      </a:r>
                    </a:p>
                  </a:txBody>
                  <a:tcPr/>
                </a:tc>
              </a:tr>
              <a:tr h="391885">
                <a:tc>
                  <a:txBody>
                    <a:bodyPr/>
                    <a:lstStyle/>
                    <a:p>
                      <a:r>
                        <a:t>T1 expected deaths 2011</a:t>
                      </a:r>
                    </a:p>
                  </a:txBody>
                  <a:tcPr/>
                </a:tc>
                <a:tc>
                  <a:txBody>
                    <a:bodyPr/>
                    <a:lstStyle/>
                    <a:p>
                      <a:r>
                        <a:t>2,060</a:t>
                      </a:r>
                    </a:p>
                  </a:txBody>
                  <a:tcPr/>
                </a:tc>
                <a:tc>
                  <a:txBody>
                    <a:bodyPr/>
                    <a:lstStyle/>
                    <a:p>
                      <a:r>
                        <a:t>T1 municipalities</a:t>
                      </a:r>
                    </a:p>
                  </a:txBody>
                  <a:tcPr/>
                </a:tc>
                <a:tc>
                  <a:txBody>
                    <a:bodyPr/>
                    <a:lstStyle/>
                    <a:p>
                      <a:r>
                        <a:t>Measured</a:t>
                      </a:r>
                    </a:p>
                  </a:txBody>
                  <a:tcPr/>
                </a:tc>
                <a:tc>
                  <a:txBody>
                    <a:bodyPr/>
                    <a:lstStyle/>
                    <a:p>
                      <a:r>
                        <a:t>This study</a:t>
                      </a:r>
                    </a:p>
                  </a:txBody>
                  <a:tcPr/>
                </a:tc>
              </a:tr>
              <a:tr h="391885">
                <a:tc>
                  <a:txBody>
                    <a:bodyPr/>
                    <a:lstStyle/>
                    <a:p>
                      <a:r>
                        <a:t>T1 excess deaths 2011</a:t>
                      </a:r>
                    </a:p>
                  </a:txBody>
                  <a:tcPr/>
                </a:tc>
                <a:tc>
                  <a:txBody>
                    <a:bodyPr/>
                    <a:lstStyle/>
                    <a:p>
                      <a:r>
                        <a:t>936</a:t>
                      </a:r>
                    </a:p>
                  </a:txBody>
                  <a:tcPr/>
                </a:tc>
                <a:tc>
                  <a:txBody>
                    <a:bodyPr/>
                    <a:lstStyle/>
                    <a:p>
                      <a:r>
                        <a:t>T1 municipalities</a:t>
                      </a:r>
                    </a:p>
                  </a:txBody>
                  <a:tcPr/>
                </a:tc>
                <a:tc>
                  <a:txBody>
                    <a:bodyPr/>
                    <a:lstStyle/>
                    <a:p>
                      <a:r>
                        <a:t>Measured</a:t>
                      </a:r>
                    </a:p>
                  </a:txBody>
                  <a:tcPr/>
                </a:tc>
                <a:tc>
                  <a:txBody>
                    <a:bodyPr/>
                    <a:lstStyle/>
                    <a:p>
                      <a:r>
                        <a:t>This study</a:t>
                      </a:r>
                    </a:p>
                  </a:txBody>
                  <a:tcPr/>
                </a:tc>
              </a:tr>
              <a:tr h="391885">
                <a:tc>
                  <a:txBody>
                    <a:bodyPr/>
                    <a:lstStyle/>
                    <a:p>
                      <a:r>
                        <a:t>Of which direct disaster deaths</a:t>
                      </a:r>
                    </a:p>
                  </a:txBody>
                  <a:tcPr/>
                </a:tc>
                <a:tc>
                  <a:txBody>
                    <a:bodyPr/>
                    <a:lstStyle/>
                    <a:p>
                      <a:r>
                        <a:t>732</a:t>
                      </a:r>
                    </a:p>
                  </a:txBody>
                  <a:tcPr/>
                </a:tc>
                <a:tc>
                  <a:txBody>
                    <a:bodyPr/>
                    <a:lstStyle/>
                    <a:p>
                      <a:r>
                        <a:t>T1 municipalities</a:t>
                      </a:r>
                    </a:p>
                  </a:txBody>
                  <a:tcPr/>
                </a:tc>
                <a:tc>
                  <a:txBody>
                    <a:bodyPr/>
                    <a:lstStyle/>
                    <a:p>
                      <a:r>
                        <a:t>Measured</a:t>
                      </a:r>
                    </a:p>
                  </a:txBody>
                  <a:tcPr/>
                </a:tc>
                <a:tc>
                  <a:txBody>
                    <a:bodyPr/>
                    <a:lstStyle/>
                    <a:p>
                      <a:r>
                        <a:t>Fukushima Prefecture, 2014</a:t>
                      </a:r>
                    </a:p>
                  </a:txBody>
                  <a:tcPr/>
                </a:tc>
              </a:tr>
              <a:tr h="391885">
                <a:tc>
                  <a:txBody>
                    <a:bodyPr/>
                    <a:lstStyle/>
                    <a:p>
                      <a:r>
                        <a:t>T1 residual excess deaths 2011</a:t>
                      </a:r>
                    </a:p>
                  </a:txBody>
                  <a:tcPr/>
                </a:tc>
                <a:tc>
                  <a:txBody>
                    <a:bodyPr/>
                    <a:lstStyle/>
                    <a:p>
                      <a:r>
                        <a:t>204</a:t>
                      </a:r>
                    </a:p>
                  </a:txBody>
                  <a:tcPr/>
                </a:tc>
                <a:tc>
                  <a:txBody>
                    <a:bodyPr/>
                    <a:lstStyle/>
                    <a:p>
                      <a:r>
                        <a:t>T1 municipalities</a:t>
                      </a:r>
                    </a:p>
                  </a:txBody>
                  <a:tcPr/>
                </a:tc>
                <a:tc>
                  <a:txBody>
                    <a:bodyPr/>
                    <a:lstStyle/>
                    <a:p>
                      <a:r>
                        <a:t>Measured</a:t>
                      </a:r>
                    </a:p>
                  </a:txBody>
                  <a:tcPr/>
                </a:tc>
                <a:tc>
                  <a:txBody>
                    <a:bodyPr/>
                    <a:lstStyle/>
                    <a:p>
                      <a:r>
                        <a:t>This study</a:t>
                      </a:r>
                    </a:p>
                  </a:txBody>
                  <a:tcPr/>
                </a:tc>
              </a:tr>
              <a:tr h="391885">
                <a:tc>
                  <a:txBody>
                    <a:bodyPr/>
                    <a:lstStyle/>
                    <a:p>
                      <a:r>
                        <a:t>T1 implied difference 2012-2019 (recorded)</a:t>
                      </a:r>
                    </a:p>
                  </a:txBody>
                  <a:tcPr/>
                </a:tc>
                <a:tc>
                  <a:txBody>
                    <a:bodyPr/>
                    <a:lstStyle/>
                    <a:p>
                      <a:r>
                        <a:t>-1,322</a:t>
                      </a:r>
                    </a:p>
                  </a:txBody>
                  <a:tcPr/>
                </a:tc>
                <a:tc>
                  <a:txBody>
                    <a:bodyPr/>
                    <a:lstStyle/>
                    <a:p>
                      <a:r>
                        <a:t>T1 municipalities</a:t>
                      </a:r>
                    </a:p>
                  </a:txBody>
                  <a:tcPr/>
                </a:tc>
                <a:tc>
                  <a:txBody>
                    <a:bodyPr/>
                    <a:lstStyle/>
                    <a:p>
                      <a:r>
                        <a:t>Measured</a:t>
                      </a:r>
                    </a:p>
                  </a:txBody>
                  <a:tcPr/>
                </a:tc>
                <a:tc>
                  <a:txBody>
                    <a:bodyPr/>
                    <a:lstStyle/>
                    <a:p>
                      <a:r>
                        <a:t>This study</a:t>
                      </a:r>
                    </a:p>
                  </a:txBody>
                  <a:tcPr/>
                </a:tc>
              </a:tr>
              <a:tr h="391885">
                <a:tc>
                  <a:txBody>
                    <a:bodyPr/>
                    <a:lstStyle/>
                    <a:p>
                      <a:r>
                        <a:t>Certified disaster-related deaths, Fukushima Prefecture</a:t>
                      </a:r>
                    </a:p>
                  </a:txBody>
                  <a:tcPr/>
                </a:tc>
                <a:tc>
                  <a:txBody>
                    <a:bodyPr/>
                    <a:lstStyle/>
                    <a:p>
                      <a:r>
                        <a:t>2,350</a:t>
                      </a:r>
                    </a:p>
                  </a:txBody>
                  <a:tcPr/>
                </a:tc>
                <a:tc>
                  <a:txBody>
                    <a:bodyPr/>
                    <a:lstStyle/>
                    <a:p>
                      <a:r>
                        <a:t>Fukushima prefecture</a:t>
                      </a:r>
                    </a:p>
                  </a:txBody>
                  <a:tcPr/>
                </a:tc>
                <a:tc>
                  <a:txBody>
                    <a:bodyPr/>
                    <a:lstStyle/>
                    <a:p>
                      <a:r>
                        <a:t>Measured</a:t>
                      </a:r>
                    </a:p>
                  </a:txBody>
                  <a:tcPr/>
                </a:tc>
                <a:tc>
                  <a:txBody>
                    <a:bodyPr/>
                    <a:lstStyle/>
                    <a:p>
                      <a:r>
                        <a:t>Reconstruction Agency, 2026</a:t>
                      </a:r>
                    </a:p>
                  </a:txBody>
                  <a:tcPr/>
                </a:tc>
              </a:tr>
              <a:tr h="391885">
                <a:tc>
                  <a:txBody>
                    <a:bodyPr/>
                    <a:lstStyle/>
                    <a:p>
                      <a:r>
                        <a:t>Projected worldwide cancer deaths from the release</a:t>
                      </a:r>
                    </a:p>
                  </a:txBody>
                  <a:tcPr/>
                </a:tc>
                <a:tc>
                  <a:txBody>
                    <a:bodyPr/>
                    <a:lstStyle/>
                    <a:p>
                      <a:r>
                        <a:t>130 (15-1,100)</a:t>
                      </a:r>
                    </a:p>
                  </a:txBody>
                  <a:tcPr/>
                </a:tc>
                <a:tc>
                  <a:txBody>
                    <a:bodyPr/>
                    <a:lstStyle/>
                    <a:p>
                      <a:r>
                        <a:t>Worldwide</a:t>
                      </a:r>
                    </a:p>
                  </a:txBody>
                  <a:tcPr/>
                </a:tc>
                <a:tc>
                  <a:txBody>
                    <a:bodyPr/>
                    <a:lstStyle/>
                    <a:p>
                      <a:r>
                        <a:t>Projected (LNT-based)</a:t>
                      </a:r>
                    </a:p>
                  </a:txBody>
                  <a:tcPr/>
                </a:tc>
                <a:tc>
                  <a:txBody>
                    <a:bodyPr/>
                    <a:lstStyle/>
                    <a:p>
                      <a:r>
                        <a:t>ten Hoeve &amp; Jacobson, 2012</a:t>
                      </a:r>
                    </a:p>
                  </a:txBody>
                  <a:tcPr/>
                </a:tc>
              </a:tr>
              <a:tr h="391885">
                <a:tc>
                  <a:txBody>
                    <a:bodyPr/>
                    <a:lstStyle/>
                    <a:p>
                      <a:r>
                        <a:t>Evacuation-avoided radiological mortalities</a:t>
                      </a:r>
                    </a:p>
                  </a:txBody>
                  <a:tcPr/>
                </a:tc>
                <a:tc>
                  <a:txBody>
                    <a:bodyPr/>
                    <a:lstStyle/>
                    <a:p>
                      <a:r>
                        <a:t>28 (3-245)</a:t>
                      </a:r>
                    </a:p>
                  </a:txBody>
                  <a:tcPr/>
                </a:tc>
                <a:tc>
                  <a:txBody>
                    <a:bodyPr/>
                    <a:lstStyle/>
                    <a:p>
                      <a:r>
                        <a:t>Worldwide</a:t>
                      </a:r>
                    </a:p>
                  </a:txBody>
                  <a:tcPr/>
                </a:tc>
                <a:tc>
                  <a:txBody>
                    <a:bodyPr/>
                    <a:lstStyle/>
                    <a:p>
                      <a:r>
                        <a:t>Projected (LNT-based)</a:t>
                      </a:r>
                    </a:p>
                  </a:txBody>
                  <a:tcPr/>
                </a:tc>
                <a:tc>
                  <a:txBody>
                    <a:bodyPr/>
                    <a:lstStyle/>
                    <a:p>
                      <a:r>
                        <a:t>ten Hoeve &amp; Jacobson, 2012</a:t>
                      </a:r>
                    </a:p>
                  </a:txBody>
                  <a:tcPr/>
                </a:tc>
              </a:tr>
              <a:tr h="391885">
                <a:tc>
                  <a:txBody>
                    <a:bodyPr/>
                    <a:lstStyle/>
                    <a:p>
                      <a:r>
                        <a:t>Lifetime-risk relative increases in the most affected areas</a:t>
                      </a:r>
                    </a:p>
                  </a:txBody>
                  <a:tcPr/>
                </a:tc>
                <a:tc>
                  <a:txBody>
                    <a:bodyPr/>
                    <a:lstStyle/>
                    <a:p>
                      <a:r>
                        <a:t>leukaemia up to 7%; breast up to 6%; all solid cancers up to 4%; thyroid up to 70%</a:t>
                      </a:r>
                    </a:p>
                  </a:txBody>
                  <a:tcPr/>
                </a:tc>
                <a:tc>
                  <a:txBody>
                    <a:bodyPr/>
                    <a:lstStyle/>
                    <a:p>
                      <a:r>
                        <a:t>Most affected areas</a:t>
                      </a:r>
                    </a:p>
                  </a:txBody>
                  <a:tcPr/>
                </a:tc>
                <a:tc>
                  <a:txBody>
                    <a:bodyPr/>
                    <a:lstStyle/>
                    <a:p>
                      <a:r>
                        <a:t>Projected (LNT-based)</a:t>
                      </a:r>
                    </a:p>
                  </a:txBody>
                  <a:tcPr/>
                </a:tc>
                <a:tc>
                  <a:txBody>
                    <a:bodyPr/>
                    <a:lstStyle/>
                    <a:p>
                      <a:r>
                        <a:t>WHO, 2013</a:t>
                      </a:r>
                    </a:p>
                  </a:txBody>
                  <a:tcPr/>
                </a:tc>
              </a:tr>
              <a:tr h="391885">
                <a:tc>
                  <a:txBody>
                    <a:bodyPr/>
                    <a:lstStyle/>
                    <a:p>
                      <a:r>
                        <a:t>WHO conclusion outside Japan</a:t>
                      </a:r>
                    </a:p>
                  </a:txBody>
                  <a:tcPr/>
                </a:tc>
                <a:tc>
                  <a:txBody>
                    <a:bodyPr/>
                    <a:lstStyle/>
                    <a:p>
                      <a:r>
                        <a:t>no discernible increase</a:t>
                      </a:r>
                    </a:p>
                  </a:txBody>
                  <a:tcPr/>
                </a:tc>
                <a:tc>
                  <a:txBody>
                    <a:bodyPr/>
                    <a:lstStyle/>
                    <a:p>
                      <a:r>
                        <a:t>Outside Japan</a:t>
                      </a:r>
                    </a:p>
                  </a:txBody>
                  <a:tcPr/>
                </a:tc>
                <a:tc>
                  <a:txBody>
                    <a:bodyPr/>
                    <a:lstStyle/>
                    <a:p>
                      <a:r>
                        <a:t>Projected (LNT-based)</a:t>
                      </a:r>
                    </a:p>
                  </a:txBody>
                  <a:tcPr/>
                </a:tc>
                <a:tc>
                  <a:txBody>
                    <a:bodyPr/>
                    <a:lstStyle/>
                    <a:p>
                      <a:r>
                        <a:t>WHO, 2013</a:t>
                      </a:r>
                    </a:p>
                  </a:txBody>
                  <a:tcPr/>
                </a:tc>
              </a:tr>
              <a:tr h="391885">
                <a:tc>
                  <a:txBody>
                    <a:bodyPr/>
                    <a:lstStyle/>
                    <a:p>
                      <a:r>
                        <a:t>Collective effective dose</a:t>
                      </a:r>
                    </a:p>
                  </a:txBody>
                  <a:tcPr/>
                </a:tc>
                <a:tc>
                  <a:txBody>
                    <a:bodyPr/>
                    <a:lstStyle/>
                    <a:p>
                      <a:r>
                        <a:t>18 / 36 / 48 thousand man-Sv (first year / ten years / lifetime)</a:t>
                      </a:r>
                    </a:p>
                  </a:txBody>
                  <a:tcPr/>
                </a:tc>
                <a:tc>
                  <a:txBody>
                    <a:bodyPr/>
                    <a:lstStyle/>
                    <a:p>
                      <a:r>
                        <a:t>Japanese population</a:t>
                      </a:r>
                    </a:p>
                  </a:txBody>
                  <a:tcPr/>
                </a:tc>
                <a:tc>
                  <a:txBody>
                    <a:bodyPr/>
                    <a:lstStyle/>
                    <a:p>
                      <a:r>
                        <a:t>Projected (LNT-based)</a:t>
                      </a:r>
                    </a:p>
                  </a:txBody>
                  <a:tcPr/>
                </a:tc>
                <a:tc>
                  <a:txBody>
                    <a:bodyPr/>
                    <a:lstStyle/>
                    <a:p>
                      <a:r>
                        <a:t>UNSCEAR, 2014</a:t>
                      </a:r>
                    </a:p>
                  </a:txBody>
                  <a:tcPr/>
                </a:tc>
              </a:tr>
              <a:tr h="391895">
                <a:tc>
                  <a:txBody>
                    <a:bodyPr/>
                    <a:lstStyle/>
                    <a:p>
                      <a:r>
                        <a:t>UNSCEAR conclusion</a:t>
                      </a:r>
                    </a:p>
                  </a:txBody>
                  <a:tcPr/>
                </a:tc>
                <a:tc>
                  <a:txBody>
                    <a:bodyPr/>
                    <a:lstStyle/>
                    <a:p>
                      <a:r>
                        <a:t>no discernible increase expected</a:t>
                      </a:r>
                    </a:p>
                  </a:txBody>
                  <a:tcPr/>
                </a:tc>
                <a:tc>
                  <a:txBody>
                    <a:bodyPr/>
                    <a:lstStyle/>
                    <a:p>
                      <a:r>
                        <a:t>Exposed population</a:t>
                      </a:r>
                    </a:p>
                  </a:txBody>
                  <a:tcPr/>
                </a:tc>
                <a:tc>
                  <a:txBody>
                    <a:bodyPr/>
                    <a:lstStyle/>
                    <a:p>
                      <a:r>
                        <a:t>Projected (LNT-based)</a:t>
                      </a:r>
                    </a:p>
                  </a:txBody>
                  <a:tcPr/>
                </a:tc>
                <a:tc>
                  <a:txBody>
                    <a:bodyPr/>
                    <a:lstStyle/>
                    <a:p>
                      <a:r>
                        <a:t>UNSCEAR, 2014</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Table 4. Synthetic-control estimates for Kansas, 2013-2017 mean gap relative to synthetic Kansas. Permutation p is the rank of the Kansas post/pre RMSPE ratio among all donors. In-time placebo assigns a pseudo-treatment in 2005 and reports the 2005-2012 mean gap.</a:t>
            </a:r>
          </a:p>
        </p:txBody>
      </p:sp>
      <p:graphicFrame>
        <p:nvGraphicFramePr>
          <p:cNvPr id="3" name="Table 2"/>
          <p:cNvGraphicFramePr>
            <a:graphicFrameLocks noGrp="1"/>
          </p:cNvGraphicFramePr>
          <p:nvPr/>
        </p:nvGraphicFramePr>
        <p:xfrm>
          <a:off x="274320" y="731520"/>
          <a:ext cx="11612880" cy="5486400"/>
        </p:xfrm>
        <a:graphic>
          <a:graphicData uri="http://schemas.openxmlformats.org/drawingml/2006/table">
            <a:tbl>
              <a:tblPr firstRow="1" bandRow="1">
                <a:tableStyleId>{5C22544A-7EE6-4342-B048-85BDC9FD1C3A}</a:tableStyleId>
              </a:tblPr>
              <a:tblGrid>
                <a:gridCol w="1290320"/>
                <a:gridCol w="1290320"/>
                <a:gridCol w="1290320"/>
                <a:gridCol w="1290320"/>
                <a:gridCol w="1290320"/>
                <a:gridCol w="1290320"/>
                <a:gridCol w="1290320"/>
                <a:gridCol w="1290320"/>
                <a:gridCol w="1290320"/>
              </a:tblGrid>
              <a:tr h="609600">
                <a:tc>
                  <a:txBody>
                    <a:bodyPr/>
                    <a:lstStyle/>
                    <a:p>
                      <a:r>
                        <a:t>Outcome</a:t>
                      </a:r>
                    </a:p>
                  </a:txBody>
                  <a:tcPr/>
                </a:tc>
                <a:tc>
                  <a:txBody>
                    <a:bodyPr/>
                    <a:lstStyle/>
                    <a:p>
                      <a:r>
                        <a:t>Pool</a:t>
                      </a:r>
                    </a:p>
                  </a:txBody>
                  <a:tcPr/>
                </a:tc>
                <a:tc>
                  <a:txBody>
                    <a:bodyPr/>
                    <a:lstStyle/>
                    <a:p>
                      <a:r>
                        <a:t>Mean gap</a:t>
                      </a:r>
                    </a:p>
                  </a:txBody>
                  <a:tcPr/>
                </a:tc>
                <a:tc>
                  <a:txBody>
                    <a:bodyPr/>
                    <a:lstStyle/>
                    <a:p>
                      <a:r>
                        <a:t>Gap (%)</a:t>
                      </a:r>
                    </a:p>
                  </a:txBody>
                  <a:tcPr/>
                </a:tc>
                <a:tc>
                  <a:txBody>
                    <a:bodyPr/>
                    <a:lstStyle/>
                    <a:p>
                      <a:r>
                        <a:t>Permutation p</a:t>
                      </a:r>
                    </a:p>
                  </a:txBody>
                  <a:tcPr/>
                </a:tc>
                <a:tc>
                  <a:txBody>
                    <a:bodyPr/>
                    <a:lstStyle/>
                    <a:p>
                      <a:r>
                        <a:t>Pre-RMSPE</a:t>
                      </a:r>
                    </a:p>
                  </a:txBody>
                  <a:tcPr/>
                </a:tc>
                <a:tc>
                  <a:txBody>
                    <a:bodyPr/>
                    <a:lstStyle/>
                    <a:p>
                      <a:r>
                        <a:t>donors</a:t>
                      </a:r>
                    </a:p>
                  </a:txBody>
                  <a:tcPr/>
                </a:tc>
                <a:tc>
                  <a:txBody>
                    <a:bodyPr/>
                    <a:lstStyle/>
                    <a:p>
                      <a:r>
                        <a:t>in-time placebo</a:t>
                      </a:r>
                    </a:p>
                  </a:txBody>
                  <a:tcPr/>
                </a:tc>
                <a:tc>
                  <a:txBody>
                    <a:bodyPr/>
                    <a:lstStyle/>
                    <a:p>
                      <a:r>
                        <a:t>LOO range</a:t>
                      </a:r>
                    </a:p>
                  </a:txBody>
                  <a:tcPr/>
                </a:tc>
              </a:tr>
              <a:tr h="609600">
                <a:tc>
                  <a:txBody>
                    <a:bodyPr/>
                    <a:lstStyle/>
                    <a:p>
                      <a:r>
                        <a:t>Real GDP per capita</a:t>
                      </a:r>
                    </a:p>
                  </a:txBody>
                  <a:tcPr/>
                </a:tc>
                <a:tc>
                  <a:txBody>
                    <a:bodyPr/>
                    <a:lstStyle/>
                    <a:p>
                      <a:r>
                        <a:t>Main</a:t>
                      </a:r>
                    </a:p>
                  </a:txBody>
                  <a:tcPr/>
                </a:tc>
                <a:tc>
                  <a:txBody>
                    <a:bodyPr/>
                    <a:lstStyle/>
                    <a:p>
                      <a:r>
                        <a:t>0.015</a:t>
                      </a:r>
                    </a:p>
                  </a:txBody>
                  <a:tcPr/>
                </a:tc>
                <a:tc>
                  <a:txBody>
                    <a:bodyPr/>
                    <a:lstStyle/>
                    <a:p>
                      <a:r>
                        <a:t>+1.5%</a:t>
                      </a:r>
                    </a:p>
                  </a:txBody>
                  <a:tcPr/>
                </a:tc>
                <a:tc>
                  <a:txBody>
                    <a:bodyPr/>
                    <a:lstStyle/>
                    <a:p>
                      <a:r>
                        <a:t>0.71</a:t>
                      </a:r>
                    </a:p>
                  </a:txBody>
                  <a:tcPr/>
                </a:tc>
                <a:tc>
                  <a:txBody>
                    <a:bodyPr/>
                    <a:lstStyle/>
                    <a:p>
                      <a:r>
                        <a:t>0.015</a:t>
                      </a:r>
                    </a:p>
                  </a:txBody>
                  <a:tcPr/>
                </a:tc>
                <a:tc>
                  <a:txBody>
                    <a:bodyPr/>
                    <a:lstStyle/>
                    <a:p>
                      <a:r>
                        <a:t>33</a:t>
                      </a:r>
                    </a:p>
                  </a:txBody>
                  <a:tcPr/>
                </a:tc>
                <a:tc>
                  <a:txBody>
                    <a:bodyPr/>
                    <a:lstStyle/>
                    <a:p>
                      <a:r>
                        <a:t>0.056</a:t>
                      </a:r>
                    </a:p>
                  </a:txBody>
                  <a:tcPr/>
                </a:tc>
                <a:tc>
                  <a:txBody>
                    <a:bodyPr/>
                    <a:lstStyle/>
                    <a:p>
                      <a:r>
                        <a:t>0.009 to 0.029</a:t>
                      </a:r>
                    </a:p>
                  </a:txBody>
                  <a:tcPr/>
                </a:tc>
              </a:tr>
              <a:tr h="609600">
                <a:tc>
                  <a:txBody>
                    <a:bodyPr/>
                    <a:lstStyle/>
                    <a:p>
                      <a:r>
                        <a:t>Real GDP per capita</a:t>
                      </a:r>
                    </a:p>
                  </a:txBody>
                  <a:tcPr/>
                </a:tc>
                <a:tc>
                  <a:txBody>
                    <a:bodyPr/>
                    <a:lstStyle/>
                    <a:p>
                      <a:r>
                        <a:t>All states</a:t>
                      </a:r>
                    </a:p>
                  </a:txBody>
                  <a:tcPr/>
                </a:tc>
                <a:tc>
                  <a:txBody>
                    <a:bodyPr/>
                    <a:lstStyle/>
                    <a:p>
                      <a:r>
                        <a:t>-0.004</a:t>
                      </a:r>
                    </a:p>
                  </a:txBody>
                  <a:tcPr/>
                </a:tc>
                <a:tc>
                  <a:txBody>
                    <a:bodyPr/>
                    <a:lstStyle/>
                    <a:p>
                      <a:r>
                        <a:t>-0.4%</a:t>
                      </a:r>
                    </a:p>
                  </a:txBody>
                  <a:tcPr/>
                </a:tc>
                <a:tc>
                  <a:txBody>
                    <a:bodyPr/>
                    <a:lstStyle/>
                    <a:p>
                      <a:r>
                        <a:t>0.49</a:t>
                      </a:r>
                    </a:p>
                  </a:txBody>
                  <a:tcPr/>
                </a:tc>
                <a:tc>
                  <a:txBody>
                    <a:bodyPr/>
                    <a:lstStyle/>
                    <a:p>
                      <a:r>
                        <a:t>0.007</a:t>
                      </a:r>
                    </a:p>
                  </a:txBody>
                  <a:tcPr/>
                </a:tc>
                <a:tc>
                  <a:txBody>
                    <a:bodyPr/>
                    <a:lstStyle/>
                    <a:p>
                      <a:r>
                        <a:t>50</a:t>
                      </a:r>
                    </a:p>
                  </a:txBody>
                  <a:tcPr/>
                </a:tc>
                <a:tc>
                  <a:txBody>
                    <a:bodyPr/>
                    <a:lstStyle/>
                    <a:p>
                      <a:r>
                        <a:t>0.056</a:t>
                      </a:r>
                    </a:p>
                  </a:txBody>
                  <a:tcPr/>
                </a:tc>
                <a:tc>
                  <a:txBody>
                    <a:bodyPr/>
                    <a:lstStyle/>
                    <a:p>
                      <a:r>
                        <a:t>-</a:t>
                      </a:r>
                    </a:p>
                  </a:txBody>
                  <a:tcPr/>
                </a:tc>
              </a:tr>
              <a:tr h="609600">
                <a:tc>
                  <a:txBody>
                    <a:bodyPr/>
                    <a:lstStyle/>
                    <a:p>
                      <a:r>
                        <a:t>Nonfarm employment</a:t>
                      </a:r>
                    </a:p>
                  </a:txBody>
                  <a:tcPr/>
                </a:tc>
                <a:tc>
                  <a:txBody>
                    <a:bodyPr/>
                    <a:lstStyle/>
                    <a:p>
                      <a:r>
                        <a:t>Main</a:t>
                      </a:r>
                    </a:p>
                  </a:txBody>
                  <a:tcPr/>
                </a:tc>
                <a:tc>
                  <a:txBody>
                    <a:bodyPr/>
                    <a:lstStyle/>
                    <a:p>
                      <a:r>
                        <a:t>-0.013</a:t>
                      </a:r>
                    </a:p>
                  </a:txBody>
                  <a:tcPr/>
                </a:tc>
                <a:tc>
                  <a:txBody>
                    <a:bodyPr/>
                    <a:lstStyle/>
                    <a:p>
                      <a:r>
                        <a:t>-1.3%</a:t>
                      </a:r>
                    </a:p>
                  </a:txBody>
                  <a:tcPr/>
                </a:tc>
                <a:tc>
                  <a:txBody>
                    <a:bodyPr/>
                    <a:lstStyle/>
                    <a:p>
                      <a:r>
                        <a:t>0.47</a:t>
                      </a:r>
                    </a:p>
                  </a:txBody>
                  <a:tcPr/>
                </a:tc>
                <a:tc>
                  <a:txBody>
                    <a:bodyPr/>
                    <a:lstStyle/>
                    <a:p>
                      <a:r>
                        <a:t>0.004</a:t>
                      </a:r>
                    </a:p>
                  </a:txBody>
                  <a:tcPr/>
                </a:tc>
                <a:tc>
                  <a:txBody>
                    <a:bodyPr/>
                    <a:lstStyle/>
                    <a:p>
                      <a:r>
                        <a:t>33</a:t>
                      </a:r>
                    </a:p>
                  </a:txBody>
                  <a:tcPr/>
                </a:tc>
                <a:tc>
                  <a:txBody>
                    <a:bodyPr/>
                    <a:lstStyle/>
                    <a:p>
                      <a:r>
                        <a:t>0.006</a:t>
                      </a:r>
                    </a:p>
                  </a:txBody>
                  <a:tcPr/>
                </a:tc>
                <a:tc>
                  <a:txBody>
                    <a:bodyPr/>
                    <a:lstStyle/>
                    <a:p>
                      <a:r>
                        <a:t>-0.014 to -0.001</a:t>
                      </a:r>
                    </a:p>
                  </a:txBody>
                  <a:tcPr/>
                </a:tc>
              </a:tr>
              <a:tr h="609600">
                <a:tc>
                  <a:txBody>
                    <a:bodyPr/>
                    <a:lstStyle/>
                    <a:p>
                      <a:r>
                        <a:t>Nonfarm employment</a:t>
                      </a:r>
                    </a:p>
                  </a:txBody>
                  <a:tcPr/>
                </a:tc>
                <a:tc>
                  <a:txBody>
                    <a:bodyPr/>
                    <a:lstStyle/>
                    <a:p>
                      <a:r>
                        <a:t>All states</a:t>
                      </a:r>
                    </a:p>
                  </a:txBody>
                  <a:tcPr/>
                </a:tc>
                <a:tc>
                  <a:txBody>
                    <a:bodyPr/>
                    <a:lstStyle/>
                    <a:p>
                      <a:r>
                        <a:t>-0.001</a:t>
                      </a:r>
                    </a:p>
                  </a:txBody>
                  <a:tcPr/>
                </a:tc>
                <a:tc>
                  <a:txBody>
                    <a:bodyPr/>
                    <a:lstStyle/>
                    <a:p>
                      <a:r>
                        <a:t>-0.1%</a:t>
                      </a:r>
                    </a:p>
                  </a:txBody>
                  <a:tcPr/>
                </a:tc>
                <a:tc>
                  <a:txBody>
                    <a:bodyPr/>
                    <a:lstStyle/>
                    <a:p>
                      <a:r>
                        <a:t>0.96</a:t>
                      </a:r>
                    </a:p>
                  </a:txBody>
                  <a:tcPr/>
                </a:tc>
                <a:tc>
                  <a:txBody>
                    <a:bodyPr/>
                    <a:lstStyle/>
                    <a:p>
                      <a:r>
                        <a:t>0.003</a:t>
                      </a:r>
                    </a:p>
                  </a:txBody>
                  <a:tcPr/>
                </a:tc>
                <a:tc>
                  <a:txBody>
                    <a:bodyPr/>
                    <a:lstStyle/>
                    <a:p>
                      <a:r>
                        <a:t>50</a:t>
                      </a:r>
                    </a:p>
                  </a:txBody>
                  <a:tcPr/>
                </a:tc>
                <a:tc>
                  <a:txBody>
                    <a:bodyPr/>
                    <a:lstStyle/>
                    <a:p>
                      <a:r>
                        <a:t>0.006</a:t>
                      </a:r>
                    </a:p>
                  </a:txBody>
                  <a:tcPr/>
                </a:tc>
                <a:tc>
                  <a:txBody>
                    <a:bodyPr/>
                    <a:lstStyle/>
                    <a:p>
                      <a:r>
                        <a:t>-</a:t>
                      </a:r>
                    </a:p>
                  </a:txBody>
                  <a:tcPr/>
                </a:tc>
              </a:tr>
              <a:tr h="609600">
                <a:tc>
                  <a:txBody>
                    <a:bodyPr/>
                    <a:lstStyle/>
                    <a:p>
                      <a:r>
                        <a:t>Real total tax revenue per capita</a:t>
                      </a:r>
                    </a:p>
                  </a:txBody>
                  <a:tcPr/>
                </a:tc>
                <a:tc>
                  <a:txBody>
                    <a:bodyPr/>
                    <a:lstStyle/>
                    <a:p>
                      <a:r>
                        <a:t>Main</a:t>
                      </a:r>
                    </a:p>
                  </a:txBody>
                  <a:tcPr/>
                </a:tc>
                <a:tc>
                  <a:txBody>
                    <a:bodyPr/>
                    <a:lstStyle/>
                    <a:p>
                      <a:r>
                        <a:t>-0.031</a:t>
                      </a:r>
                    </a:p>
                  </a:txBody>
                  <a:tcPr/>
                </a:tc>
                <a:tc>
                  <a:txBody>
                    <a:bodyPr/>
                    <a:lstStyle/>
                    <a:p>
                      <a:r>
                        <a:t>-3.0%</a:t>
                      </a:r>
                    </a:p>
                  </a:txBody>
                  <a:tcPr/>
                </a:tc>
                <a:tc>
                  <a:txBody>
                    <a:bodyPr/>
                    <a:lstStyle/>
                    <a:p>
                      <a:r>
                        <a:t>0.18</a:t>
                      </a:r>
                    </a:p>
                  </a:txBody>
                  <a:tcPr/>
                </a:tc>
                <a:tc>
                  <a:txBody>
                    <a:bodyPr/>
                    <a:lstStyle/>
                    <a:p>
                      <a:r>
                        <a:t>0.013</a:t>
                      </a:r>
                    </a:p>
                  </a:txBody>
                  <a:tcPr/>
                </a:tc>
                <a:tc>
                  <a:txBody>
                    <a:bodyPr/>
                    <a:lstStyle/>
                    <a:p>
                      <a:r>
                        <a:t>32</a:t>
                      </a:r>
                    </a:p>
                  </a:txBody>
                  <a:tcPr/>
                </a:tc>
                <a:tc>
                  <a:txBody>
                    <a:bodyPr/>
                    <a:lstStyle/>
                    <a:p>
                      <a:r>
                        <a:t>0.075</a:t>
                      </a:r>
                    </a:p>
                  </a:txBody>
                  <a:tcPr/>
                </a:tc>
                <a:tc>
                  <a:txBody>
                    <a:bodyPr/>
                    <a:lstStyle/>
                    <a:p>
                      <a:r>
                        <a:t>-0.039 to -0.028</a:t>
                      </a:r>
                    </a:p>
                  </a:txBody>
                  <a:tcPr/>
                </a:tc>
              </a:tr>
              <a:tr h="609600">
                <a:tc>
                  <a:txBody>
                    <a:bodyPr/>
                    <a:lstStyle/>
                    <a:p>
                      <a:r>
                        <a:t>Real total tax revenue per capita</a:t>
                      </a:r>
                    </a:p>
                  </a:txBody>
                  <a:tcPr/>
                </a:tc>
                <a:tc>
                  <a:txBody>
                    <a:bodyPr/>
                    <a:lstStyle/>
                    <a:p>
                      <a:r>
                        <a:t>All states</a:t>
                      </a:r>
                    </a:p>
                  </a:txBody>
                  <a:tcPr/>
                </a:tc>
                <a:tc>
                  <a:txBody>
                    <a:bodyPr/>
                    <a:lstStyle/>
                    <a:p>
                      <a:r>
                        <a:t>0.030</a:t>
                      </a:r>
                    </a:p>
                  </a:txBody>
                  <a:tcPr/>
                </a:tc>
                <a:tc>
                  <a:txBody>
                    <a:bodyPr/>
                    <a:lstStyle/>
                    <a:p>
                      <a:r>
                        <a:t>+3.1%</a:t>
                      </a:r>
                    </a:p>
                  </a:txBody>
                  <a:tcPr/>
                </a:tc>
                <a:tc>
                  <a:txBody>
                    <a:bodyPr/>
                    <a:lstStyle/>
                    <a:p>
                      <a:r>
                        <a:t>0.12</a:t>
                      </a:r>
                    </a:p>
                  </a:txBody>
                  <a:tcPr/>
                </a:tc>
                <a:tc>
                  <a:txBody>
                    <a:bodyPr/>
                    <a:lstStyle/>
                    <a:p>
                      <a:r>
                        <a:t>0.010</a:t>
                      </a:r>
                    </a:p>
                  </a:txBody>
                  <a:tcPr/>
                </a:tc>
                <a:tc>
                  <a:txBody>
                    <a:bodyPr/>
                    <a:lstStyle/>
                    <a:p>
                      <a:r>
                        <a:t>49</a:t>
                      </a:r>
                    </a:p>
                  </a:txBody>
                  <a:tcPr/>
                </a:tc>
                <a:tc>
                  <a:txBody>
                    <a:bodyPr/>
                    <a:lstStyle/>
                    <a:p>
                      <a:r>
                        <a:t>0.075</a:t>
                      </a:r>
                    </a:p>
                  </a:txBody>
                  <a:tcPr/>
                </a:tc>
                <a:tc>
                  <a:txBody>
                    <a:bodyPr/>
                    <a:lstStyle/>
                    <a:p>
                      <a:r>
                        <a:t>-</a:t>
                      </a:r>
                    </a:p>
                  </a:txBody>
                  <a:tcPr/>
                </a:tc>
              </a:tr>
              <a:tr h="609600">
                <a:tc>
                  <a:txBody>
                    <a:bodyPr/>
                    <a:lstStyle/>
                    <a:p>
                      <a:r>
                        <a:t>Real individual income-tax revenue per capita</a:t>
                      </a:r>
                    </a:p>
                  </a:txBody>
                  <a:tcPr/>
                </a:tc>
                <a:tc>
                  <a:txBody>
                    <a:bodyPr/>
                    <a:lstStyle/>
                    <a:p>
                      <a:r>
                        <a:t>Main</a:t>
                      </a:r>
                    </a:p>
                  </a:txBody>
                  <a:tcPr/>
                </a:tc>
                <a:tc>
                  <a:txBody>
                    <a:bodyPr/>
                    <a:lstStyle/>
                    <a:p>
                      <a:r>
                        <a:t>-0.313</a:t>
                      </a:r>
                    </a:p>
                  </a:txBody>
                  <a:tcPr/>
                </a:tc>
                <a:tc>
                  <a:txBody>
                    <a:bodyPr/>
                    <a:lstStyle/>
                    <a:p>
                      <a:r>
                        <a:t>-26.9%</a:t>
                      </a:r>
                    </a:p>
                  </a:txBody>
                  <a:tcPr/>
                </a:tc>
                <a:tc>
                  <a:txBody>
                    <a:bodyPr/>
                    <a:lstStyle/>
                    <a:p>
                      <a:r>
                        <a:t>0.03</a:t>
                      </a:r>
                    </a:p>
                  </a:txBody>
                  <a:tcPr/>
                </a:tc>
                <a:tc>
                  <a:txBody>
                    <a:bodyPr/>
                    <a:lstStyle/>
                    <a:p>
                      <a:r>
                        <a:t>0.025</a:t>
                      </a:r>
                    </a:p>
                  </a:txBody>
                  <a:tcPr/>
                </a:tc>
                <a:tc>
                  <a:txBody>
                    <a:bodyPr/>
                    <a:lstStyle/>
                    <a:p>
                      <a:r>
                        <a:t>32</a:t>
                      </a:r>
                    </a:p>
                  </a:txBody>
                  <a:tcPr/>
                </a:tc>
                <a:tc>
                  <a:txBody>
                    <a:bodyPr/>
                    <a:lstStyle/>
                    <a:p>
                      <a:r>
                        <a:t>0.103</a:t>
                      </a:r>
                    </a:p>
                  </a:txBody>
                  <a:tcPr/>
                </a:tc>
                <a:tc>
                  <a:txBody>
                    <a:bodyPr/>
                    <a:lstStyle/>
                    <a:p>
                      <a:r>
                        <a:t>-0.322 to -0.291</a:t>
                      </a:r>
                    </a:p>
                  </a:txBody>
                  <a:tcPr/>
                </a:tc>
              </a:tr>
              <a:tr h="609600">
                <a:tc>
                  <a:txBody>
                    <a:bodyPr/>
                    <a:lstStyle/>
                    <a:p>
                      <a:r>
                        <a:t>Real individual income-tax revenue per capita</a:t>
                      </a:r>
                    </a:p>
                  </a:txBody>
                  <a:tcPr/>
                </a:tc>
                <a:tc>
                  <a:txBody>
                    <a:bodyPr/>
                    <a:lstStyle/>
                    <a:p>
                      <a:r>
                        <a:t>All states</a:t>
                      </a:r>
                    </a:p>
                  </a:txBody>
                  <a:tcPr/>
                </a:tc>
                <a:tc>
                  <a:txBody>
                    <a:bodyPr/>
                    <a:lstStyle/>
                    <a:p>
                      <a:r>
                        <a:t>-0.301</a:t>
                      </a:r>
                    </a:p>
                  </a:txBody>
                  <a:tcPr/>
                </a:tc>
                <a:tc>
                  <a:txBody>
                    <a:bodyPr/>
                    <a:lstStyle/>
                    <a:p>
                      <a:r>
                        <a:t>-26.0%</a:t>
                      </a:r>
                    </a:p>
                  </a:txBody>
                  <a:tcPr/>
                </a:tc>
                <a:tc>
                  <a:txBody>
                    <a:bodyPr/>
                    <a:lstStyle/>
                    <a:p>
                      <a:r>
                        <a:t>0.02</a:t>
                      </a:r>
                    </a:p>
                  </a:txBody>
                  <a:tcPr/>
                </a:tc>
                <a:tc>
                  <a:txBody>
                    <a:bodyPr/>
                    <a:lstStyle/>
                    <a:p>
                      <a:r>
                        <a:t>0.019</a:t>
                      </a:r>
                    </a:p>
                  </a:txBody>
                  <a:tcPr/>
                </a:tc>
                <a:tc>
                  <a:txBody>
                    <a:bodyPr/>
                    <a:lstStyle/>
                    <a:p>
                      <a:r>
                        <a:t>42</a:t>
                      </a:r>
                    </a:p>
                  </a:txBody>
                  <a:tcPr/>
                </a:tc>
                <a:tc>
                  <a:txBody>
                    <a:bodyPr/>
                    <a:lstStyle/>
                    <a:p>
                      <a:r>
                        <a:t>0.103</a:t>
                      </a:r>
                    </a:p>
                  </a:txBody>
                  <a:tcPr/>
                </a:tc>
                <a:tc>
                  <a:txBody>
                    <a:bodyPr/>
                    <a:lstStyle/>
                    <a:p>
                      <a:r>
                        <a:t>-</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Table A1. Municipalities excluded from the estimation sample, by prefecture and reason.</a:t>
            </a:r>
          </a:p>
        </p:txBody>
      </p:sp>
      <p:graphicFrame>
        <p:nvGraphicFramePr>
          <p:cNvPr id="3" name="Table 2"/>
          <p:cNvGraphicFramePr>
            <a:graphicFrameLocks noGrp="1"/>
          </p:cNvGraphicFramePr>
          <p:nvPr/>
        </p:nvGraphicFramePr>
        <p:xfrm>
          <a:off x="274320" y="731520"/>
          <a:ext cx="11612880" cy="5486400"/>
        </p:xfrm>
        <a:graphic>
          <a:graphicData uri="http://schemas.openxmlformats.org/drawingml/2006/table">
            <a:tbl>
              <a:tblPr firstRow="1" bandRow="1">
                <a:tableStyleId>{5C22544A-7EE6-4342-B048-85BDC9FD1C3A}</a:tableStyleId>
              </a:tblPr>
              <a:tblGrid>
                <a:gridCol w="2903220"/>
                <a:gridCol w="2903220"/>
                <a:gridCol w="2903220"/>
                <a:gridCol w="2903220"/>
              </a:tblGrid>
              <a:tr h="195942">
                <a:tc>
                  <a:txBody>
                    <a:bodyPr/>
                    <a:lstStyle/>
                    <a:p>
                      <a:r>
                        <a:t>Prefecture</a:t>
                      </a:r>
                    </a:p>
                  </a:txBody>
                  <a:tcPr/>
                </a:tc>
                <a:tc>
                  <a:txBody>
                    <a:bodyPr/>
                    <a:lstStyle/>
                    <a:p>
                      <a:r>
                        <a:t>Municipality</a:t>
                      </a:r>
                    </a:p>
                  </a:txBody>
                  <a:tcPr/>
                </a:tc>
                <a:tc>
                  <a:txBody>
                    <a:bodyPr/>
                    <a:lstStyle/>
                    <a:p>
                      <a:r>
                        <a:t>Reason</a:t>
                      </a:r>
                    </a:p>
                  </a:txBody>
                  <a:tcPr/>
                </a:tc>
                <a:tc>
                  <a:txBody>
                    <a:bodyPr/>
                    <a:lstStyle/>
                    <a:p>
                      <a:r>
                        <a:t>Years missing</a:t>
                      </a:r>
                    </a:p>
                  </a:txBody>
                  <a:tcPr/>
                </a:tc>
              </a:tr>
              <a:tr h="195942">
                <a:tc>
                  <a:txBody>
                    <a:bodyPr/>
                    <a:lstStyle/>
                    <a:p>
                      <a:r>
                        <a:t>Iwate</a:t>
                      </a:r>
                    </a:p>
                  </a:txBody>
                  <a:tcPr/>
                </a:tc>
                <a:tc>
                  <a:txBody>
                    <a:bodyPr/>
                    <a:lstStyle/>
                    <a:p>
                      <a:r>
                        <a:t>Hachimantai</a:t>
                      </a:r>
                    </a:p>
                  </a:txBody>
                  <a:tcPr/>
                </a:tc>
                <a:tc>
                  <a:txBody>
                    <a:bodyPr/>
                    <a:lstStyle/>
                    <a:p>
                      <a:r>
                        <a:t>Population missing in at least one year 2005-2019</a:t>
                      </a:r>
                    </a:p>
                  </a:txBody>
                  <a:tcPr/>
                </a:tc>
                <a:tc>
                  <a:txBody>
                    <a:bodyPr/>
                    <a:lstStyle/>
                    <a:p>
                      <a:r>
                        <a:t>2005</a:t>
                      </a:r>
                    </a:p>
                  </a:txBody>
                  <a:tcPr/>
                </a:tc>
              </a:tr>
              <a:tr h="195942">
                <a:tc>
                  <a:txBody>
                    <a:bodyPr/>
                    <a:lstStyle/>
                    <a:p>
                      <a:r>
                        <a:t>Iwate</a:t>
                      </a:r>
                    </a:p>
                  </a:txBody>
                  <a:tcPr/>
                </a:tc>
                <a:tc>
                  <a:txBody>
                    <a:bodyPr/>
                    <a:lstStyle/>
                    <a:p>
                      <a:r>
                        <a:t>Oshu</a:t>
                      </a:r>
                    </a:p>
                  </a:txBody>
                  <a:tcPr/>
                </a:tc>
                <a:tc>
                  <a:txBody>
                    <a:bodyPr/>
                    <a:lstStyle/>
                    <a:p>
                      <a:r>
                        <a:t>Unit not observed under a single code 2005-2019</a:t>
                      </a:r>
                    </a:p>
                  </a:txBody>
                  <a:tcPr/>
                </a:tc>
                <a:tc>
                  <a:txBody>
                    <a:bodyPr/>
                    <a:lstStyle/>
                    <a:p>
                      <a:r>
                        <a:t>2005</a:t>
                      </a:r>
                    </a:p>
                  </a:txBody>
                  <a:tcPr/>
                </a:tc>
              </a:tr>
              <a:tr h="195942">
                <a:tc>
                  <a:txBody>
                    <a:bodyPr/>
                    <a:lstStyle/>
                    <a:p>
                      <a:r>
                        <a:t>Iwate</a:t>
                      </a:r>
                    </a:p>
                  </a:txBody>
                  <a:tcPr/>
                </a:tc>
                <a:tc>
                  <a:txBody>
                    <a:bodyPr/>
                    <a:lstStyle/>
                    <a:p>
                      <a:r>
                        <a:t>Takizawa</a:t>
                      </a:r>
                    </a:p>
                  </a:txBody>
                  <a:tcPr/>
                </a:tc>
                <a:tc>
                  <a:txBody>
                    <a:bodyPr/>
                    <a:lstStyle/>
                    <a:p>
                      <a:r>
                        <a:t>Unit not observed under a single code 2005-2019</a:t>
                      </a:r>
                    </a:p>
                  </a:txBody>
                  <a:tcPr/>
                </a:tc>
                <a:tc>
                  <a:txBody>
                    <a:bodyPr/>
                    <a:lstStyle/>
                    <a:p>
                      <a:r>
                        <a:t>2005,2006,2007,2008,2009,2010,2011,2012,2013</a:t>
                      </a:r>
                    </a:p>
                  </a:txBody>
                  <a:tcPr/>
                </a:tc>
              </a:tr>
              <a:tr h="195942">
                <a:tc>
                  <a:txBody>
                    <a:bodyPr/>
                    <a:lstStyle/>
                    <a:p>
                      <a:r>
                        <a:t>Iwate</a:t>
                      </a:r>
                    </a:p>
                  </a:txBody>
                  <a:tcPr/>
                </a:tc>
                <a:tc>
                  <a:txBody>
                    <a:bodyPr/>
                    <a:lstStyle/>
                    <a:p>
                      <a:r>
                        <a:t>Nishiwaga</a:t>
                      </a:r>
                    </a:p>
                  </a:txBody>
                  <a:tcPr/>
                </a:tc>
                <a:tc>
                  <a:txBody>
                    <a:bodyPr/>
                    <a:lstStyle/>
                    <a:p>
                      <a:r>
                        <a:t>Population missing in at least one year 2005-2019</a:t>
                      </a:r>
                    </a:p>
                  </a:txBody>
                  <a:tcPr/>
                </a:tc>
                <a:tc>
                  <a:txBody>
                    <a:bodyPr/>
                    <a:lstStyle/>
                    <a:p>
                      <a:r>
                        <a:t>2005</a:t>
                      </a:r>
                    </a:p>
                  </a:txBody>
                  <a:tcPr/>
                </a:tc>
              </a:tr>
              <a:tr h="195942">
                <a:tc>
                  <a:txBody>
                    <a:bodyPr/>
                    <a:lstStyle/>
                    <a:p>
                      <a:r>
                        <a:t>Iwate</a:t>
                      </a:r>
                    </a:p>
                  </a:txBody>
                  <a:tcPr/>
                </a:tc>
                <a:tc>
                  <a:txBody>
                    <a:bodyPr/>
                    <a:lstStyle/>
                    <a:p>
                      <a:r>
                        <a:t>Hirono</a:t>
                      </a:r>
                    </a:p>
                  </a:txBody>
                  <a:tcPr/>
                </a:tc>
                <a:tc>
                  <a:txBody>
                    <a:bodyPr/>
                    <a:lstStyle/>
                    <a:p>
                      <a:r>
                        <a:t>Unit not observed under a single code 2005-2019</a:t>
                      </a:r>
                    </a:p>
                  </a:txBody>
                  <a:tcPr/>
                </a:tc>
                <a:tc>
                  <a:txBody>
                    <a:bodyPr/>
                    <a:lstStyle/>
                    <a:p>
                      <a:r>
                        <a:t>2005</a:t>
                      </a:r>
                    </a:p>
                  </a:txBody>
                  <a:tcPr/>
                </a:tc>
              </a:tr>
              <a:tr h="195942">
                <a:tc>
                  <a:txBody>
                    <a:bodyPr/>
                    <a:lstStyle/>
                    <a:p>
                      <a:r>
                        <a:t>Miyagi</a:t>
                      </a:r>
                    </a:p>
                  </a:txBody>
                  <a:tcPr/>
                </a:tc>
                <a:tc>
                  <a:txBody>
                    <a:bodyPr/>
                    <a:lstStyle/>
                    <a:p>
                      <a:r>
                        <a:t>Aoba Ward, Sendai</a:t>
                      </a:r>
                    </a:p>
                  </a:txBody>
                  <a:tcPr/>
                </a:tc>
                <a:tc>
                  <a:txBody>
                    <a:bodyPr/>
                    <a:lstStyle/>
                    <a:p>
                      <a:r>
                        <a:t>Population missing in at least one year 2005-2019</a:t>
                      </a:r>
                    </a:p>
                  </a:txBody>
                  <a:tcPr/>
                </a:tc>
                <a:tc>
                  <a:txBody>
                    <a:bodyPr/>
                    <a:lstStyle/>
                    <a:p>
                      <a:r>
                        <a:t>2006,2007,2008,2009,2010</a:t>
                      </a:r>
                    </a:p>
                  </a:txBody>
                  <a:tcPr/>
                </a:tc>
              </a:tr>
              <a:tr h="195942">
                <a:tc>
                  <a:txBody>
                    <a:bodyPr/>
                    <a:lstStyle/>
                    <a:p>
                      <a:r>
                        <a:t>Miyagi</a:t>
                      </a:r>
                    </a:p>
                  </a:txBody>
                  <a:tcPr/>
                </a:tc>
                <a:tc>
                  <a:txBody>
                    <a:bodyPr/>
                    <a:lstStyle/>
                    <a:p>
                      <a:r>
                        <a:t>Miyagino Ward, Sendai</a:t>
                      </a:r>
                    </a:p>
                  </a:txBody>
                  <a:tcPr/>
                </a:tc>
                <a:tc>
                  <a:txBody>
                    <a:bodyPr/>
                    <a:lstStyle/>
                    <a:p>
                      <a:r>
                        <a:t>Population missing in at least one year 2005-2019</a:t>
                      </a:r>
                    </a:p>
                  </a:txBody>
                  <a:tcPr/>
                </a:tc>
                <a:tc>
                  <a:txBody>
                    <a:bodyPr/>
                    <a:lstStyle/>
                    <a:p>
                      <a:r>
                        <a:t>2005,2006,2007,2008,2009,2010</a:t>
                      </a:r>
                    </a:p>
                  </a:txBody>
                  <a:tcPr/>
                </a:tc>
              </a:tr>
              <a:tr h="195942">
                <a:tc>
                  <a:txBody>
                    <a:bodyPr/>
                    <a:lstStyle/>
                    <a:p>
                      <a:r>
                        <a:t>Miyagi</a:t>
                      </a:r>
                    </a:p>
                  </a:txBody>
                  <a:tcPr/>
                </a:tc>
                <a:tc>
                  <a:txBody>
                    <a:bodyPr/>
                    <a:lstStyle/>
                    <a:p>
                      <a:r>
                        <a:t>Wakabayashi Ward, Sendai</a:t>
                      </a:r>
                    </a:p>
                  </a:txBody>
                  <a:tcPr/>
                </a:tc>
                <a:tc>
                  <a:txBody>
                    <a:bodyPr/>
                    <a:lstStyle/>
                    <a:p>
                      <a:r>
                        <a:t>Population missing in at least one year 2005-2019</a:t>
                      </a:r>
                    </a:p>
                  </a:txBody>
                  <a:tcPr/>
                </a:tc>
                <a:tc>
                  <a:txBody>
                    <a:bodyPr/>
                    <a:lstStyle/>
                    <a:p>
                      <a:r>
                        <a:t>2005,2006,2007,2008,2009,2010</a:t>
                      </a:r>
                    </a:p>
                  </a:txBody>
                  <a:tcPr/>
                </a:tc>
              </a:tr>
              <a:tr h="195942">
                <a:tc>
                  <a:txBody>
                    <a:bodyPr/>
                    <a:lstStyle/>
                    <a:p>
                      <a:r>
                        <a:t>Miyagi</a:t>
                      </a:r>
                    </a:p>
                  </a:txBody>
                  <a:tcPr/>
                </a:tc>
                <a:tc>
                  <a:txBody>
                    <a:bodyPr/>
                    <a:lstStyle/>
                    <a:p>
                      <a:r>
                        <a:t>Taihaku Ward, Sendai</a:t>
                      </a:r>
                    </a:p>
                  </a:txBody>
                  <a:tcPr/>
                </a:tc>
                <a:tc>
                  <a:txBody>
                    <a:bodyPr/>
                    <a:lstStyle/>
                    <a:p>
                      <a:r>
                        <a:t>Population missing in at least one year 2005-2019</a:t>
                      </a:r>
                    </a:p>
                  </a:txBody>
                  <a:tcPr/>
                </a:tc>
                <a:tc>
                  <a:txBody>
                    <a:bodyPr/>
                    <a:lstStyle/>
                    <a:p>
                      <a:r>
                        <a:t>2005,2006,2007,2008,2009,2010</a:t>
                      </a:r>
                    </a:p>
                  </a:txBody>
                  <a:tcPr/>
                </a:tc>
              </a:tr>
              <a:tr h="195942">
                <a:tc>
                  <a:txBody>
                    <a:bodyPr/>
                    <a:lstStyle/>
                    <a:p>
                      <a:r>
                        <a:t>Miyagi</a:t>
                      </a:r>
                    </a:p>
                  </a:txBody>
                  <a:tcPr/>
                </a:tc>
                <a:tc>
                  <a:txBody>
                    <a:bodyPr/>
                    <a:lstStyle/>
                    <a:p>
                      <a:r>
                        <a:t>Izumi Ward, Sendai</a:t>
                      </a:r>
                    </a:p>
                  </a:txBody>
                  <a:tcPr/>
                </a:tc>
                <a:tc>
                  <a:txBody>
                    <a:bodyPr/>
                    <a:lstStyle/>
                    <a:p>
                      <a:r>
                        <a:t>Population missing in at least one year 2005-2019</a:t>
                      </a:r>
                    </a:p>
                  </a:txBody>
                  <a:tcPr/>
                </a:tc>
                <a:tc>
                  <a:txBody>
                    <a:bodyPr/>
                    <a:lstStyle/>
                    <a:p>
                      <a:r>
                        <a:t>2005,2006,2007,2008,2009,2010</a:t>
                      </a:r>
                    </a:p>
                  </a:txBody>
                  <a:tcPr/>
                </a:tc>
              </a:tr>
              <a:tr h="195942">
                <a:tc>
                  <a:txBody>
                    <a:bodyPr/>
                    <a:lstStyle/>
                    <a:p>
                      <a:r>
                        <a:t>Miyagi</a:t>
                      </a:r>
                    </a:p>
                  </a:txBody>
                  <a:tcPr/>
                </a:tc>
                <a:tc>
                  <a:txBody>
                    <a:bodyPr/>
                    <a:lstStyle/>
                    <a:p>
                      <a:r>
                        <a:t>Shiogama</a:t>
                      </a:r>
                    </a:p>
                  </a:txBody>
                  <a:tcPr/>
                </a:tc>
                <a:tc>
                  <a:txBody>
                    <a:bodyPr/>
                    <a:lstStyle/>
                    <a:p>
                      <a:r>
                        <a:t>Population missing in at least one year 2005-2019</a:t>
                      </a:r>
                    </a:p>
                  </a:txBody>
                  <a:tcPr/>
                </a:tc>
                <a:tc>
                  <a:txBody>
                    <a:bodyPr/>
                    <a:lstStyle/>
                    <a:p>
                      <a:r>
                        <a:t>2006,2007</a:t>
                      </a:r>
                    </a:p>
                  </a:txBody>
                  <a:tcPr/>
                </a:tc>
              </a:tr>
              <a:tr h="195942">
                <a:tc>
                  <a:txBody>
                    <a:bodyPr/>
                    <a:lstStyle/>
                    <a:p>
                      <a:r>
                        <a:t>Miyagi</a:t>
                      </a:r>
                    </a:p>
                  </a:txBody>
                  <a:tcPr/>
                </a:tc>
                <a:tc>
                  <a:txBody>
                    <a:bodyPr/>
                    <a:lstStyle/>
                    <a:p>
                      <a:r>
                        <a:t>Tome</a:t>
                      </a:r>
                    </a:p>
                  </a:txBody>
                  <a:tcPr/>
                </a:tc>
                <a:tc>
                  <a:txBody>
                    <a:bodyPr/>
                    <a:lstStyle/>
                    <a:p>
                      <a:r>
                        <a:t>Population missing in at least one year 2005-2019</a:t>
                      </a:r>
                    </a:p>
                  </a:txBody>
                  <a:tcPr/>
                </a:tc>
                <a:tc>
                  <a:txBody>
                    <a:bodyPr/>
                    <a:lstStyle/>
                    <a:p>
                      <a:r>
                        <a:t>2005</a:t>
                      </a:r>
                    </a:p>
                  </a:txBody>
                  <a:tcPr/>
                </a:tc>
              </a:tr>
              <a:tr h="195942">
                <a:tc>
                  <a:txBody>
                    <a:bodyPr/>
                    <a:lstStyle/>
                    <a:p>
                      <a:r>
                        <a:t>Miyagi</a:t>
                      </a:r>
                    </a:p>
                  </a:txBody>
                  <a:tcPr/>
                </a:tc>
                <a:tc>
                  <a:txBody>
                    <a:bodyPr/>
                    <a:lstStyle/>
                    <a:p>
                      <a:r>
                        <a:t>Kurihara</a:t>
                      </a:r>
                    </a:p>
                  </a:txBody>
                  <a:tcPr/>
                </a:tc>
                <a:tc>
                  <a:txBody>
                    <a:bodyPr/>
                    <a:lstStyle/>
                    <a:p>
                      <a:r>
                        <a:t>Population missing in at least one year 2005-2019</a:t>
                      </a:r>
                    </a:p>
                  </a:txBody>
                  <a:tcPr/>
                </a:tc>
                <a:tc>
                  <a:txBody>
                    <a:bodyPr/>
                    <a:lstStyle/>
                    <a:p>
                      <a:r>
                        <a:t>2005</a:t>
                      </a:r>
                    </a:p>
                  </a:txBody>
                  <a:tcPr/>
                </a:tc>
              </a:tr>
              <a:tr h="195942">
                <a:tc>
                  <a:txBody>
                    <a:bodyPr/>
                    <a:lstStyle/>
                    <a:p>
                      <a:r>
                        <a:t>Miyagi</a:t>
                      </a:r>
                    </a:p>
                  </a:txBody>
                  <a:tcPr/>
                </a:tc>
                <a:tc>
                  <a:txBody>
                    <a:bodyPr/>
                    <a:lstStyle/>
                    <a:p>
                      <a:r>
                        <a:t>Higashimatsushima</a:t>
                      </a:r>
                    </a:p>
                  </a:txBody>
                  <a:tcPr/>
                </a:tc>
                <a:tc>
                  <a:txBody>
                    <a:bodyPr/>
                    <a:lstStyle/>
                    <a:p>
                      <a:r>
                        <a:t>Population missing in at least one year 2005-2019</a:t>
                      </a:r>
                    </a:p>
                  </a:txBody>
                  <a:tcPr/>
                </a:tc>
                <a:tc>
                  <a:txBody>
                    <a:bodyPr/>
                    <a:lstStyle/>
                    <a:p>
                      <a:r>
                        <a:t>2005</a:t>
                      </a:r>
                    </a:p>
                  </a:txBody>
                  <a:tcPr/>
                </a:tc>
              </a:tr>
              <a:tr h="195942">
                <a:tc>
                  <a:txBody>
                    <a:bodyPr/>
                    <a:lstStyle/>
                    <a:p>
                      <a:r>
                        <a:t>Miyagi</a:t>
                      </a:r>
                    </a:p>
                  </a:txBody>
                  <a:tcPr/>
                </a:tc>
                <a:tc>
                  <a:txBody>
                    <a:bodyPr/>
                    <a:lstStyle/>
                    <a:p>
                      <a:r>
                        <a:t>Osaki</a:t>
                      </a:r>
                    </a:p>
                  </a:txBody>
                  <a:tcPr/>
                </a:tc>
                <a:tc>
                  <a:txBody>
                    <a:bodyPr/>
                    <a:lstStyle/>
                    <a:p>
                      <a:r>
                        <a:t>Unit not observed under a single code 2005-2019</a:t>
                      </a:r>
                    </a:p>
                  </a:txBody>
                  <a:tcPr/>
                </a:tc>
                <a:tc>
                  <a:txBody>
                    <a:bodyPr/>
                    <a:lstStyle/>
                    <a:p>
                      <a:r>
                        <a:t>2005</a:t>
                      </a:r>
                    </a:p>
                  </a:txBody>
                  <a:tcPr/>
                </a:tc>
              </a:tr>
              <a:tr h="195942">
                <a:tc>
                  <a:txBody>
                    <a:bodyPr/>
                    <a:lstStyle/>
                    <a:p>
                      <a:r>
                        <a:t>Miyagi</a:t>
                      </a:r>
                    </a:p>
                  </a:txBody>
                  <a:tcPr/>
                </a:tc>
                <a:tc>
                  <a:txBody>
                    <a:bodyPr/>
                    <a:lstStyle/>
                    <a:p>
                      <a:r>
                        <a:t>Tomiya</a:t>
                      </a:r>
                    </a:p>
                  </a:txBody>
                  <a:tcPr/>
                </a:tc>
                <a:tc>
                  <a:txBody>
                    <a:bodyPr/>
                    <a:lstStyle/>
                    <a:p>
                      <a:r>
                        <a:t>Unit not observed under a single code 2005-2019</a:t>
                      </a:r>
                    </a:p>
                  </a:txBody>
                  <a:tcPr/>
                </a:tc>
                <a:tc>
                  <a:txBody>
                    <a:bodyPr/>
                    <a:lstStyle/>
                    <a:p>
                      <a:r>
                        <a:t>2005,2006,2007,2008,2009,2010,2011,2012,2013,2014,2015,2016</a:t>
                      </a:r>
                    </a:p>
                  </a:txBody>
                  <a:tcPr/>
                </a:tc>
              </a:tr>
              <a:tr h="195942">
                <a:tc>
                  <a:txBody>
                    <a:bodyPr/>
                    <a:lstStyle/>
                    <a:p>
                      <a:r>
                        <a:t>Miyagi</a:t>
                      </a:r>
                    </a:p>
                  </a:txBody>
                  <a:tcPr/>
                </a:tc>
                <a:tc>
                  <a:txBody>
                    <a:bodyPr/>
                    <a:lstStyle/>
                    <a:p>
                      <a:r>
                        <a:t>Shichikashuku</a:t>
                      </a:r>
                    </a:p>
                  </a:txBody>
                  <a:tcPr/>
                </a:tc>
                <a:tc>
                  <a:txBody>
                    <a:bodyPr/>
                    <a:lstStyle/>
                    <a:p>
                      <a:r>
                        <a:t>Population missing in at least one year 2005-2019</a:t>
                      </a:r>
                    </a:p>
                  </a:txBody>
                  <a:tcPr/>
                </a:tc>
                <a:tc>
                  <a:txBody>
                    <a:bodyPr/>
                    <a:lstStyle/>
                    <a:p>
                      <a:r>
                        <a:t>2007,2008,2009,2010,2011,2012,2013,2014,2015,2016,2017</a:t>
                      </a:r>
                    </a:p>
                  </a:txBody>
                  <a:tcPr/>
                </a:tc>
              </a:tr>
              <a:tr h="195942">
                <a:tc>
                  <a:txBody>
                    <a:bodyPr/>
                    <a:lstStyle/>
                    <a:p>
                      <a:r>
                        <a:t>Miyagi</a:t>
                      </a:r>
                    </a:p>
                  </a:txBody>
                  <a:tcPr/>
                </a:tc>
                <a:tc>
                  <a:txBody>
                    <a:bodyPr/>
                    <a:lstStyle/>
                    <a:p>
                      <a:r>
                        <a:t>Shichigahama</a:t>
                      </a:r>
                    </a:p>
                  </a:txBody>
                  <a:tcPr/>
                </a:tc>
                <a:tc>
                  <a:txBody>
                    <a:bodyPr/>
                    <a:lstStyle/>
                    <a:p>
                      <a:r>
                        <a:t>Population missing in at least one year 2005-2019</a:t>
                      </a:r>
                    </a:p>
                  </a:txBody>
                  <a:tcPr/>
                </a:tc>
                <a:tc>
                  <a:txBody>
                    <a:bodyPr/>
                    <a:lstStyle/>
                    <a:p>
                      <a:r>
                        <a:t>2007,2008,2009,2010,2011,2012,2013,2014,2015,2016,2017</a:t>
                      </a:r>
                    </a:p>
                  </a:txBody>
                  <a:tcPr/>
                </a:tc>
              </a:tr>
              <a:tr h="195942">
                <a:tc>
                  <a:txBody>
                    <a:bodyPr/>
                    <a:lstStyle/>
                    <a:p>
                      <a:r>
                        <a:t>Miyagi</a:t>
                      </a:r>
                    </a:p>
                  </a:txBody>
                  <a:tcPr/>
                </a:tc>
                <a:tc>
                  <a:txBody>
                    <a:bodyPr/>
                    <a:lstStyle/>
                    <a:p>
                      <a:r>
                        <a:t>Misato</a:t>
                      </a:r>
                    </a:p>
                  </a:txBody>
                  <a:tcPr/>
                </a:tc>
                <a:tc>
                  <a:txBody>
                    <a:bodyPr/>
                    <a:lstStyle/>
                    <a:p>
                      <a:r>
                        <a:t>Unit not observed under a single code 2005-2019</a:t>
                      </a:r>
                    </a:p>
                  </a:txBody>
                  <a:tcPr/>
                </a:tc>
                <a:tc>
                  <a:txBody>
                    <a:bodyPr/>
                    <a:lstStyle/>
                    <a:p>
                      <a:r>
                        <a:t>2005</a:t>
                      </a:r>
                    </a:p>
                  </a:txBody>
                  <a:tcPr/>
                </a:tc>
              </a:tr>
              <a:tr h="195942">
                <a:tc>
                  <a:txBody>
                    <a:bodyPr/>
                    <a:lstStyle/>
                    <a:p>
                      <a:r>
                        <a:t>Miyagi</a:t>
                      </a:r>
                    </a:p>
                  </a:txBody>
                  <a:tcPr/>
                </a:tc>
                <a:tc>
                  <a:txBody>
                    <a:bodyPr/>
                    <a:lstStyle/>
                    <a:p>
                      <a:r>
                        <a:t>Minamisanriku</a:t>
                      </a:r>
                    </a:p>
                  </a:txBody>
                  <a:tcPr/>
                </a:tc>
                <a:tc>
                  <a:txBody>
                    <a:bodyPr/>
                    <a:lstStyle/>
                    <a:p>
                      <a:r>
                        <a:t>Population missing in at least one year 2005-2019</a:t>
                      </a:r>
                    </a:p>
                  </a:txBody>
                  <a:tcPr/>
                </a:tc>
                <a:tc>
                  <a:txBody>
                    <a:bodyPr/>
                    <a:lstStyle/>
                    <a:p>
                      <a:r>
                        <a:t>2005</a:t>
                      </a:r>
                    </a:p>
                  </a:txBody>
                  <a:tcPr/>
                </a:tc>
              </a:tr>
              <a:tr h="195942">
                <a:tc>
                  <a:txBody>
                    <a:bodyPr/>
                    <a:lstStyle/>
                    <a:p>
                      <a:r>
                        <a:t>Yamagata</a:t>
                      </a:r>
                    </a:p>
                  </a:txBody>
                  <a:tcPr/>
                </a:tc>
                <a:tc>
                  <a:txBody>
                    <a:bodyPr/>
                    <a:lstStyle/>
                    <a:p>
                      <a:r>
                        <a:t>Shonai</a:t>
                      </a:r>
                    </a:p>
                  </a:txBody>
                  <a:tcPr/>
                </a:tc>
                <a:tc>
                  <a:txBody>
                    <a:bodyPr/>
                    <a:lstStyle/>
                    <a:p>
                      <a:r>
                        <a:t>Population missing in at least one year 2005-2019</a:t>
                      </a:r>
                    </a:p>
                  </a:txBody>
                  <a:tcPr/>
                </a:tc>
                <a:tc>
                  <a:txBody>
                    <a:bodyPr/>
                    <a:lstStyle/>
                    <a:p>
                      <a:r>
                        <a:t>2005</a:t>
                      </a:r>
                    </a:p>
                  </a:txBody>
                  <a:tcPr/>
                </a:tc>
              </a:tr>
              <a:tr h="195942">
                <a:tc>
                  <a:txBody>
                    <a:bodyPr/>
                    <a:lstStyle/>
                    <a:p>
                      <a:r>
                        <a:t>Fukushima</a:t>
                      </a:r>
                    </a:p>
                  </a:txBody>
                  <a:tcPr/>
                </a:tc>
                <a:tc>
                  <a:txBody>
                    <a:bodyPr/>
                    <a:lstStyle/>
                    <a:p>
                      <a:r>
                        <a:t>Motomiya</a:t>
                      </a:r>
                    </a:p>
                  </a:txBody>
                  <a:tcPr/>
                </a:tc>
                <a:tc>
                  <a:txBody>
                    <a:bodyPr/>
                    <a:lstStyle/>
                    <a:p>
                      <a:r>
                        <a:t>Population missing in at least one year 2005-2019</a:t>
                      </a:r>
                    </a:p>
                  </a:txBody>
                  <a:tcPr/>
                </a:tc>
                <a:tc>
                  <a:txBody>
                    <a:bodyPr/>
                    <a:lstStyle/>
                    <a:p>
                      <a:r>
                        <a:t>2006</a:t>
                      </a:r>
                    </a:p>
                  </a:txBody>
                  <a:tcPr/>
                </a:tc>
              </a:tr>
              <a:tr h="195942">
                <a:tc>
                  <a:txBody>
                    <a:bodyPr/>
                    <a:lstStyle/>
                    <a:p>
                      <a:r>
                        <a:t>Ibaraki</a:t>
                      </a:r>
                    </a:p>
                  </a:txBody>
                  <a:tcPr/>
                </a:tc>
                <a:tc>
                  <a:txBody>
                    <a:bodyPr/>
                    <a:lstStyle/>
                    <a:p>
                      <a:r>
                        <a:t>Kasumigaura</a:t>
                      </a:r>
                    </a:p>
                  </a:txBody>
                  <a:tcPr/>
                </a:tc>
                <a:tc>
                  <a:txBody>
                    <a:bodyPr/>
                    <a:lstStyle/>
                    <a:p>
                      <a:r>
                        <a:t>Population missing in at least one year 2005-2019</a:t>
                      </a:r>
                    </a:p>
                  </a:txBody>
                  <a:tcPr/>
                </a:tc>
                <a:tc>
                  <a:txBody>
                    <a:bodyPr/>
                    <a:lstStyle/>
                    <a:p>
                      <a:r>
                        <a:t>2006</a:t>
                      </a:r>
                    </a:p>
                  </a:txBody>
                  <a:tcPr/>
                </a:tc>
              </a:tr>
              <a:tr h="195942">
                <a:tc>
                  <a:txBody>
                    <a:bodyPr/>
                    <a:lstStyle/>
                    <a:p>
                      <a:r>
                        <a:t>Ibaraki</a:t>
                      </a:r>
                    </a:p>
                  </a:txBody>
                  <a:tcPr/>
                </a:tc>
                <a:tc>
                  <a:txBody>
                    <a:bodyPr/>
                    <a:lstStyle/>
                    <a:p>
                      <a:r>
                        <a:t>Sakuragawa</a:t>
                      </a:r>
                    </a:p>
                  </a:txBody>
                  <a:tcPr/>
                </a:tc>
                <a:tc>
                  <a:txBody>
                    <a:bodyPr/>
                    <a:lstStyle/>
                    <a:p>
                      <a:r>
                        <a:t>Population missing in at least one year 2005-2019</a:t>
                      </a:r>
                    </a:p>
                  </a:txBody>
                  <a:tcPr/>
                </a:tc>
                <a:tc>
                  <a:txBody>
                    <a:bodyPr/>
                    <a:lstStyle/>
                    <a:p>
                      <a:r>
                        <a:t>2005</a:t>
                      </a:r>
                    </a:p>
                  </a:txBody>
                  <a:tcPr/>
                </a:tc>
              </a:tr>
              <a:tr h="195942">
                <a:tc>
                  <a:txBody>
                    <a:bodyPr/>
                    <a:lstStyle/>
                    <a:p>
                      <a:r>
                        <a:t>Ibaraki</a:t>
                      </a:r>
                    </a:p>
                  </a:txBody>
                  <a:tcPr/>
                </a:tc>
                <a:tc>
                  <a:txBody>
                    <a:bodyPr/>
                    <a:lstStyle/>
                    <a:p>
                      <a:r>
                        <a:t>Kamisu</a:t>
                      </a:r>
                    </a:p>
                  </a:txBody>
                  <a:tcPr/>
                </a:tc>
                <a:tc>
                  <a:txBody>
                    <a:bodyPr/>
                    <a:lstStyle/>
                    <a:p>
                      <a:r>
                        <a:t>Population missing in at least one year 2005-2019</a:t>
                      </a:r>
                    </a:p>
                  </a:txBody>
                  <a:tcPr/>
                </a:tc>
                <a:tc>
                  <a:txBody>
                    <a:bodyPr/>
                    <a:lstStyle/>
                    <a:p>
                      <a:r>
                        <a:t>2005</a:t>
                      </a:r>
                    </a:p>
                  </a:txBody>
                  <a:tcPr/>
                </a:tc>
              </a:tr>
              <a:tr h="195942">
                <a:tc>
                  <a:txBody>
                    <a:bodyPr/>
                    <a:lstStyle/>
                    <a:p>
                      <a:r>
                        <a:t>Ibaraki</a:t>
                      </a:r>
                    </a:p>
                  </a:txBody>
                  <a:tcPr/>
                </a:tc>
                <a:tc>
                  <a:txBody>
                    <a:bodyPr/>
                    <a:lstStyle/>
                    <a:p>
                      <a:r>
                        <a:t>Namegata</a:t>
                      </a:r>
                    </a:p>
                  </a:txBody>
                  <a:tcPr/>
                </a:tc>
                <a:tc>
                  <a:txBody>
                    <a:bodyPr/>
                    <a:lstStyle/>
                    <a:p>
                      <a:r>
                        <a:t>Population missing in at least one year 2005-2019</a:t>
                      </a:r>
                    </a:p>
                  </a:txBody>
                  <a:tcPr/>
                </a:tc>
                <a:tc>
                  <a:txBody>
                    <a:bodyPr/>
                    <a:lstStyle/>
                    <a:p>
                      <a:r>
                        <a:t>2005</a:t>
                      </a:r>
                    </a:p>
                  </a:txBody>
                  <a:tcPr/>
                </a:tc>
              </a:tr>
              <a:tr h="195966">
                <a:tc>
                  <a:txBody>
                    <a:bodyPr/>
                    <a:lstStyle/>
                    <a:p>
                      <a:r>
                        <a:t>Ibaraki</a:t>
                      </a:r>
                    </a:p>
                  </a:txBody>
                  <a:tcPr/>
                </a:tc>
                <a:tc>
                  <a:txBody>
                    <a:bodyPr/>
                    <a:lstStyle/>
                    <a:p>
                      <a:r>
                        <a:t>Hokota</a:t>
                      </a:r>
                    </a:p>
                  </a:txBody>
                  <a:tcPr/>
                </a:tc>
                <a:tc>
                  <a:txBody>
                    <a:bodyPr/>
                    <a:lstStyle/>
                    <a:p>
                      <a:r>
                        <a:t>Population missing in at least one year 2005-2019</a:t>
                      </a:r>
                    </a:p>
                  </a:txBody>
                  <a:tcPr/>
                </a:tc>
                <a:tc>
                  <a:txBody>
                    <a:bodyPr/>
                    <a:lstStyle/>
                    <a:p>
                      <a:r>
                        <a:t>2005</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365760"/>
          </a:xfrm>
          <a:prstGeom prst="rect">
            <a:avLst/>
          </a:prstGeom>
          <a:noFill/>
        </p:spPr>
        <p:txBody>
          <a:bodyPr wrap="none">
            <a:spAutoFit/>
          </a:bodyPr>
          <a:lstStyle/>
          <a:p>
            <a:r>
              <a:t>Table A2. Municipality-level synthetic controls for the ten T1 municipalities: donors, pre- and post-period RMSPE, 2012-2019 mean gap, and permutation p.</a:t>
            </a:r>
          </a:p>
        </p:txBody>
      </p:sp>
      <p:graphicFrame>
        <p:nvGraphicFramePr>
          <p:cNvPr id="3" name="Table 2"/>
          <p:cNvGraphicFramePr>
            <a:graphicFrameLocks noGrp="1"/>
          </p:cNvGraphicFramePr>
          <p:nvPr/>
        </p:nvGraphicFramePr>
        <p:xfrm>
          <a:off x="274320" y="731520"/>
          <a:ext cx="11612880" cy="548640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98763">
                <a:tc>
                  <a:txBody>
                    <a:bodyPr/>
                    <a:lstStyle/>
                    <a:p>
                      <a:r>
                        <a:t>Municipality</a:t>
                      </a:r>
                    </a:p>
                  </a:txBody>
                  <a:tcPr/>
                </a:tc>
                <a:tc>
                  <a:txBody>
                    <a:bodyPr/>
                    <a:lstStyle/>
                    <a:p>
                      <a:r>
                        <a:t>Donors</a:t>
                      </a:r>
                    </a:p>
                  </a:txBody>
                  <a:tcPr/>
                </a:tc>
                <a:tc>
                  <a:txBody>
                    <a:bodyPr/>
                    <a:lstStyle/>
                    <a:p>
                      <a:r>
                        <a:t>Pre-RMSPE</a:t>
                      </a:r>
                    </a:p>
                  </a:txBody>
                  <a:tcPr/>
                </a:tc>
                <a:tc>
                  <a:txBody>
                    <a:bodyPr/>
                    <a:lstStyle/>
                    <a:p>
                      <a:r>
                        <a:t>Post-RMSPE</a:t>
                      </a:r>
                    </a:p>
                  </a:txBody>
                  <a:tcPr/>
                </a:tc>
                <a:tc>
                  <a:txBody>
                    <a:bodyPr/>
                    <a:lstStyle/>
                    <a:p>
                      <a:r>
                        <a:t>Mean gap 2012-2019</a:t>
                      </a:r>
                    </a:p>
                  </a:txBody>
                  <a:tcPr/>
                </a:tc>
                <a:tc>
                  <a:txBody>
                    <a:bodyPr/>
                    <a:lstStyle/>
                    <a:p>
                      <a:r>
                        <a:t>Permutation p</a:t>
                      </a:r>
                    </a:p>
                  </a:txBody>
                  <a:tcPr/>
                </a:tc>
              </a:tr>
              <a:tr h="498763">
                <a:tc>
                  <a:txBody>
                    <a:bodyPr/>
                    <a:lstStyle/>
                    <a:p>
                      <a:r>
                        <a:t>Minamisoma</a:t>
                      </a:r>
                    </a:p>
                  </a:txBody>
                  <a:tcPr/>
                </a:tc>
                <a:tc>
                  <a:txBody>
                    <a:bodyPr/>
                    <a:lstStyle/>
                    <a:p>
                      <a:r>
                        <a:t>7</a:t>
                      </a:r>
                    </a:p>
                  </a:txBody>
                  <a:tcPr/>
                </a:tc>
                <a:tc>
                  <a:txBody>
                    <a:bodyPr/>
                    <a:lstStyle/>
                    <a:p>
                      <a:r>
                        <a:t>0.0293004359789378</a:t>
                      </a:r>
                    </a:p>
                  </a:txBody>
                  <a:tcPr/>
                </a:tc>
                <a:tc>
                  <a:txBody>
                    <a:bodyPr/>
                    <a:lstStyle/>
                    <a:p>
                      <a:r>
                        <a:t>0.1839369029359153</a:t>
                      </a:r>
                    </a:p>
                  </a:txBody>
                  <a:tcPr/>
                </a:tc>
                <a:tc>
                  <a:txBody>
                    <a:bodyPr/>
                    <a:lstStyle/>
                    <a:p>
                      <a:r>
                        <a:t>-0.0106632202853943</a:t>
                      </a:r>
                    </a:p>
                  </a:txBody>
                  <a:tcPr/>
                </a:tc>
                <a:tc>
                  <a:txBody>
                    <a:bodyPr/>
                    <a:lstStyle/>
                    <a:p>
                      <a:r>
                        <a:t>0.25</a:t>
                      </a:r>
                    </a:p>
                  </a:txBody>
                  <a:tcPr/>
                </a:tc>
              </a:tr>
              <a:tr h="498763">
                <a:tc>
                  <a:txBody>
                    <a:bodyPr/>
                    <a:lstStyle/>
                    <a:p>
                      <a:r>
                        <a:t>Kawamata</a:t>
                      </a:r>
                    </a:p>
                  </a:txBody>
                  <a:tcPr/>
                </a:tc>
                <a:tc>
                  <a:txBody>
                    <a:bodyPr/>
                    <a:lstStyle/>
                    <a:p>
                      <a:r>
                        <a:t>23</a:t>
                      </a:r>
                    </a:p>
                  </a:txBody>
                  <a:tcPr/>
                </a:tc>
                <a:tc>
                  <a:txBody>
                    <a:bodyPr/>
                    <a:lstStyle/>
                    <a:p>
                      <a:r>
                        <a:t>0.0097976486915868</a:t>
                      </a:r>
                    </a:p>
                  </a:txBody>
                  <a:tcPr/>
                </a:tc>
                <a:tc>
                  <a:txBody>
                    <a:bodyPr/>
                    <a:lstStyle/>
                    <a:p>
                      <a:r>
                        <a:t>0.0816468760361608</a:t>
                      </a:r>
                    </a:p>
                  </a:txBody>
                  <a:tcPr/>
                </a:tc>
                <a:tc>
                  <a:txBody>
                    <a:bodyPr/>
                    <a:lstStyle/>
                    <a:p>
                      <a:r>
                        <a:t>0.0551197222469218</a:t>
                      </a:r>
                    </a:p>
                  </a:txBody>
                  <a:tcPr/>
                </a:tc>
                <a:tc>
                  <a:txBody>
                    <a:bodyPr/>
                    <a:lstStyle/>
                    <a:p>
                      <a:r>
                        <a:t>0.3333333333333333</a:t>
                      </a:r>
                    </a:p>
                  </a:txBody>
                  <a:tcPr/>
                </a:tc>
              </a:tr>
              <a:tr h="498763">
                <a:tc>
                  <a:txBody>
                    <a:bodyPr/>
                    <a:lstStyle/>
                    <a:p>
                      <a:r>
                        <a:t>Naraha</a:t>
                      </a:r>
                    </a:p>
                  </a:txBody>
                  <a:tcPr/>
                </a:tc>
                <a:tc>
                  <a:txBody>
                    <a:bodyPr/>
                    <a:lstStyle/>
                    <a:p>
                      <a:r>
                        <a:t>20</a:t>
                      </a:r>
                    </a:p>
                  </a:txBody>
                  <a:tcPr/>
                </a:tc>
                <a:tc>
                  <a:txBody>
                    <a:bodyPr/>
                    <a:lstStyle/>
                    <a:p>
                      <a:r>
                        <a:t>0.0884818531208004</a:t>
                      </a:r>
                    </a:p>
                  </a:txBody>
                  <a:tcPr/>
                </a:tc>
                <a:tc>
                  <a:txBody>
                    <a:bodyPr/>
                    <a:lstStyle/>
                    <a:p>
                      <a:r>
                        <a:t>0.2043826907729224</a:t>
                      </a:r>
                    </a:p>
                  </a:txBody>
                  <a:tcPr/>
                </a:tc>
                <a:tc>
                  <a:txBody>
                    <a:bodyPr/>
                    <a:lstStyle/>
                    <a:p>
                      <a:r>
                        <a:t>-0.1279509738692234</a:t>
                      </a:r>
                    </a:p>
                  </a:txBody>
                  <a:tcPr/>
                </a:tc>
                <a:tc>
                  <a:txBody>
                    <a:bodyPr/>
                    <a:lstStyle/>
                    <a:p>
                      <a:r>
                        <a:t>0.7142857142857143</a:t>
                      </a:r>
                    </a:p>
                  </a:txBody>
                  <a:tcPr/>
                </a:tc>
              </a:tr>
              <a:tr h="498763">
                <a:tc>
                  <a:txBody>
                    <a:bodyPr/>
                    <a:lstStyle/>
                    <a:p>
                      <a:r>
                        <a:t>Tomioka</a:t>
                      </a:r>
                    </a:p>
                  </a:txBody>
                  <a:tcPr/>
                </a:tc>
                <a:tc>
                  <a:txBody>
                    <a:bodyPr/>
                    <a:lstStyle/>
                    <a:p>
                      <a:r>
                        <a:t>13</a:t>
                      </a:r>
                    </a:p>
                  </a:txBody>
                  <a:tcPr/>
                </a:tc>
                <a:tc>
                  <a:txBody>
                    <a:bodyPr/>
                    <a:lstStyle/>
                    <a:p>
                      <a:r>
                        <a:t>0.0593407198568021</a:t>
                      </a:r>
                    </a:p>
                  </a:txBody>
                  <a:tcPr/>
                </a:tc>
                <a:tc>
                  <a:txBody>
                    <a:bodyPr/>
                    <a:lstStyle/>
                    <a:p>
                      <a:r>
                        <a:t>0.1644916020423305</a:t>
                      </a:r>
                    </a:p>
                  </a:txBody>
                  <a:tcPr/>
                </a:tc>
                <a:tc>
                  <a:txBody>
                    <a:bodyPr/>
                    <a:lstStyle/>
                    <a:p>
                      <a:r>
                        <a:t>-0.1516691449521056</a:t>
                      </a:r>
                    </a:p>
                  </a:txBody>
                  <a:tcPr/>
                </a:tc>
                <a:tc>
                  <a:txBody>
                    <a:bodyPr/>
                    <a:lstStyle/>
                    <a:p>
                      <a:r>
                        <a:t>0.5</a:t>
                      </a:r>
                    </a:p>
                  </a:txBody>
                  <a:tcPr/>
                </a:tc>
              </a:tr>
              <a:tr h="498763">
                <a:tc>
                  <a:txBody>
                    <a:bodyPr/>
                    <a:lstStyle/>
                    <a:p>
                      <a:r>
                        <a:t>Kawauchi</a:t>
                      </a:r>
                    </a:p>
                  </a:txBody>
                  <a:tcPr/>
                </a:tc>
                <a:tc>
                  <a:txBody>
                    <a:bodyPr/>
                    <a:lstStyle/>
                    <a:p>
                      <a:r>
                        <a:t>13</a:t>
                      </a:r>
                    </a:p>
                  </a:txBody>
                  <a:tcPr/>
                </a:tc>
                <a:tc>
                  <a:txBody>
                    <a:bodyPr/>
                    <a:lstStyle/>
                    <a:p>
                      <a:r>
                        <a:t>0.0444060903046119</a:t>
                      </a:r>
                    </a:p>
                  </a:txBody>
                  <a:tcPr/>
                </a:tc>
                <a:tc>
                  <a:txBody>
                    <a:bodyPr/>
                    <a:lstStyle/>
                    <a:p>
                      <a:r>
                        <a:t>0.148073524583365</a:t>
                      </a:r>
                    </a:p>
                  </a:txBody>
                  <a:tcPr/>
                </a:tc>
                <a:tc>
                  <a:txBody>
                    <a:bodyPr/>
                    <a:lstStyle/>
                    <a:p>
                      <a:r>
                        <a:t>0.0831437141637636</a:t>
                      </a:r>
                    </a:p>
                  </a:txBody>
                  <a:tcPr/>
                </a:tc>
                <a:tc>
                  <a:txBody>
                    <a:bodyPr/>
                    <a:lstStyle/>
                    <a:p>
                      <a:r>
                        <a:t>0.5</a:t>
                      </a:r>
                    </a:p>
                  </a:txBody>
                  <a:tcPr/>
                </a:tc>
              </a:tr>
              <a:tr h="498763">
                <a:tc>
                  <a:txBody>
                    <a:bodyPr/>
                    <a:lstStyle/>
                    <a:p>
                      <a:r>
                        <a:t>Okuma</a:t>
                      </a:r>
                    </a:p>
                  </a:txBody>
                  <a:tcPr/>
                </a:tc>
                <a:tc>
                  <a:txBody>
                    <a:bodyPr/>
                    <a:lstStyle/>
                    <a:p>
                      <a:r>
                        <a:t>15</a:t>
                      </a:r>
                    </a:p>
                  </a:txBody>
                  <a:tcPr/>
                </a:tc>
                <a:tc>
                  <a:txBody>
                    <a:bodyPr/>
                    <a:lstStyle/>
                    <a:p>
                      <a:r>
                        <a:t>0.1444174894492124</a:t>
                      </a:r>
                    </a:p>
                  </a:txBody>
                  <a:tcPr/>
                </a:tc>
                <a:tc>
                  <a:txBody>
                    <a:bodyPr/>
                    <a:lstStyle/>
                    <a:p>
                      <a:r>
                        <a:t>0.3036511289006508</a:t>
                      </a:r>
                    </a:p>
                  </a:txBody>
                  <a:tcPr/>
                </a:tc>
                <a:tc>
                  <a:txBody>
                    <a:bodyPr/>
                    <a:lstStyle/>
                    <a:p>
                      <a:r>
                        <a:t>-0.2680255705173741</a:t>
                      </a:r>
                    </a:p>
                  </a:txBody>
                  <a:tcPr/>
                </a:tc>
                <a:tc>
                  <a:txBody>
                    <a:bodyPr/>
                    <a:lstStyle/>
                    <a:p>
                      <a:r>
                        <a:t>0.5625</a:t>
                      </a:r>
                    </a:p>
                  </a:txBody>
                  <a:tcPr/>
                </a:tc>
              </a:tr>
              <a:tr h="498763">
                <a:tc>
                  <a:txBody>
                    <a:bodyPr/>
                    <a:lstStyle/>
                    <a:p>
                      <a:r>
                        <a:t>Futaba</a:t>
                      </a:r>
                    </a:p>
                  </a:txBody>
                  <a:tcPr/>
                </a:tc>
                <a:tc>
                  <a:txBody>
                    <a:bodyPr/>
                    <a:lstStyle/>
                    <a:p>
                      <a:r>
                        <a:t>20</a:t>
                      </a:r>
                    </a:p>
                  </a:txBody>
                  <a:tcPr/>
                </a:tc>
                <a:tc>
                  <a:txBody>
                    <a:bodyPr/>
                    <a:lstStyle/>
                    <a:p>
                      <a:r>
                        <a:t>0.0489068465462831</a:t>
                      </a:r>
                    </a:p>
                  </a:txBody>
                  <a:tcPr/>
                </a:tc>
                <a:tc>
                  <a:txBody>
                    <a:bodyPr/>
                    <a:lstStyle/>
                    <a:p>
                      <a:r>
                        <a:t>0.2571351506549926</a:t>
                      </a:r>
                    </a:p>
                  </a:txBody>
                  <a:tcPr/>
                </a:tc>
                <a:tc>
                  <a:txBody>
                    <a:bodyPr/>
                    <a:lstStyle/>
                    <a:p>
                      <a:r>
                        <a:t>-0.1909625137928648</a:t>
                      </a:r>
                    </a:p>
                  </a:txBody>
                  <a:tcPr/>
                </a:tc>
                <a:tc>
                  <a:txBody>
                    <a:bodyPr/>
                    <a:lstStyle/>
                    <a:p>
                      <a:r>
                        <a:t>0.2857142857142857</a:t>
                      </a:r>
                    </a:p>
                  </a:txBody>
                  <a:tcPr/>
                </a:tc>
              </a:tr>
              <a:tr h="498763">
                <a:tc>
                  <a:txBody>
                    <a:bodyPr/>
                    <a:lstStyle/>
                    <a:p>
                      <a:r>
                        <a:t>Namie</a:t>
                      </a:r>
                    </a:p>
                  </a:txBody>
                  <a:tcPr/>
                </a:tc>
                <a:tc>
                  <a:txBody>
                    <a:bodyPr/>
                    <a:lstStyle/>
                    <a:p>
                      <a:r>
                        <a:t>18</a:t>
                      </a:r>
                    </a:p>
                  </a:txBody>
                  <a:tcPr/>
                </a:tc>
                <a:tc>
                  <a:txBody>
                    <a:bodyPr/>
                    <a:lstStyle/>
                    <a:p>
                      <a:r>
                        <a:t>0.004382533378559</a:t>
                      </a:r>
                    </a:p>
                  </a:txBody>
                  <a:tcPr/>
                </a:tc>
                <a:tc>
                  <a:txBody>
                    <a:bodyPr/>
                    <a:lstStyle/>
                    <a:p>
                      <a:r>
                        <a:t>0.1800522917924872</a:t>
                      </a:r>
                    </a:p>
                  </a:txBody>
                  <a:tcPr/>
                </a:tc>
                <a:tc>
                  <a:txBody>
                    <a:bodyPr/>
                    <a:lstStyle/>
                    <a:p>
                      <a:r>
                        <a:t>-0.098411662199711</a:t>
                      </a:r>
                    </a:p>
                  </a:txBody>
                  <a:tcPr/>
                </a:tc>
                <a:tc>
                  <a:txBody>
                    <a:bodyPr/>
                    <a:lstStyle/>
                    <a:p>
                      <a:r>
                        <a:t>0.2631578947368421</a:t>
                      </a:r>
                    </a:p>
                  </a:txBody>
                  <a:tcPr/>
                </a:tc>
              </a:tr>
              <a:tr h="498763">
                <a:tc>
                  <a:txBody>
                    <a:bodyPr/>
                    <a:lstStyle/>
                    <a:p>
                      <a:r>
                        <a:t>Katsurao</a:t>
                      </a:r>
                    </a:p>
                  </a:txBody>
                  <a:tcPr/>
                </a:tc>
                <a:tc>
                  <a:txBody>
                    <a:bodyPr/>
                    <a:lstStyle/>
                    <a:p>
                      <a:r>
                        <a:t>5</a:t>
                      </a:r>
                    </a:p>
                  </a:txBody>
                  <a:tcPr/>
                </a:tc>
                <a:tc>
                  <a:txBody>
                    <a:bodyPr/>
                    <a:lstStyle/>
                    <a:p>
                      <a:r>
                        <a:t>0.1826943753700668</a:t>
                      </a:r>
                    </a:p>
                  </a:txBody>
                  <a:tcPr/>
                </a:tc>
                <a:tc>
                  <a:txBody>
                    <a:bodyPr/>
                    <a:lstStyle/>
                    <a:p>
                      <a:r>
                        <a:t>0.2488059139201824</a:t>
                      </a:r>
                    </a:p>
                  </a:txBody>
                  <a:tcPr/>
                </a:tc>
                <a:tc>
                  <a:txBody>
                    <a:bodyPr/>
                    <a:lstStyle/>
                    <a:p>
                      <a:r>
                        <a:t>-0.1367370317019828</a:t>
                      </a:r>
                    </a:p>
                  </a:txBody>
                  <a:tcPr/>
                </a:tc>
                <a:tc>
                  <a:txBody>
                    <a:bodyPr/>
                    <a:lstStyle/>
                    <a:p>
                      <a:r>
                        <a:t>0.8333333333333334</a:t>
                      </a:r>
                    </a:p>
                  </a:txBody>
                  <a:tcPr/>
                </a:tc>
              </a:tr>
              <a:tr h="498770">
                <a:tc>
                  <a:txBody>
                    <a:bodyPr/>
                    <a:lstStyle/>
                    <a:p>
                      <a:r>
                        <a:t>Iitate</a:t>
                      </a:r>
                    </a:p>
                  </a:txBody>
                  <a:tcPr/>
                </a:tc>
                <a:tc>
                  <a:txBody>
                    <a:bodyPr/>
                    <a:lstStyle/>
                    <a:p>
                      <a:r>
                        <a:t>22</a:t>
                      </a:r>
                    </a:p>
                  </a:txBody>
                  <a:tcPr/>
                </a:tc>
                <a:tc>
                  <a:txBody>
                    <a:bodyPr/>
                    <a:lstStyle/>
                    <a:p>
                      <a:r>
                        <a:t>0.0168998085544957</a:t>
                      </a:r>
                    </a:p>
                  </a:txBody>
                  <a:tcPr/>
                </a:tc>
                <a:tc>
                  <a:txBody>
                    <a:bodyPr/>
                    <a:lstStyle/>
                    <a:p>
                      <a:r>
                        <a:t>0.1182144350993184</a:t>
                      </a:r>
                    </a:p>
                  </a:txBody>
                  <a:tcPr/>
                </a:tc>
                <a:tc>
                  <a:txBody>
                    <a:bodyPr/>
                    <a:lstStyle/>
                    <a:p>
                      <a:r>
                        <a:t>-0.0265778280351051</a:t>
                      </a:r>
                    </a:p>
                  </a:txBody>
                  <a:tcPr/>
                </a:tc>
                <a:tc>
                  <a:txBody>
                    <a:bodyPr/>
                    <a:lstStyle/>
                    <a:p>
                      <a:r>
                        <a:t>0.3043478260869565</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