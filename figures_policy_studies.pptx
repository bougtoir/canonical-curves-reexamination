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1</a:t>
            </a:r>
          </a:p>
        </p:txBody>
      </p:sp>
      <p:pic>
        <p:nvPicPr>
          <p:cNvPr id="3" name="Picture 2" descr="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146" y="594360"/>
            <a:ext cx="4317401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1. Decision-facing appraisal framework for functional-form dependence. The framework links the empirical relationship and assumed shape to the policy-relevant range, decision sensitivity, asymmetric consequences, and an action architecture that can include commitment, staging, adaptation, or precaution.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2</a:t>
            </a:r>
          </a:p>
        </p:txBody>
      </p:sp>
      <p:pic>
        <p:nvPicPr>
          <p:cNvPr id="3" name="Picture 2" descr="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107" y="594360"/>
            <a:ext cx="4691479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2. Diagnostic used in the cross-domain mapping exercise. Green paths continue toward robust nonlinear classification; orange paths indicate the first unmet criterion. Insufficient data is assigned when influence removal leaves too few observations for the nested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3</a:t>
            </a:r>
          </a:p>
        </p:txBody>
      </p:sp>
      <p:pic>
        <p:nvPicPr>
          <p:cNvPr id="3" name="Picture 2" descr="Fig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160" y="594360"/>
            <a:ext cx="7487374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3. Share of 50 relationship-dataset pairs not classified as robustly nonlinear across significance levels and Cook-distance removal counts. Cell labels report percentages; the color scale spans 0-100%.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4</a:t>
            </a:r>
          </a:p>
        </p:txBody>
      </p:sp>
      <p:pic>
        <p:nvPicPr>
          <p:cNvPr id="3" name="Picture 2" descr="Figur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247" y="594360"/>
            <a:ext cx="9721199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4. Pooled crude death rates in Fukushima treatment and control groups. T1 contains 10 mandatory-evacuation municipalities; T1w is the restricted complete-evacuation group; T2 contains comparison municipalities subject to other evacuation-related classifications. The shaded region is the 2012-2019 average-treatment-effect window.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5</a:t>
            </a:r>
          </a:p>
        </p:txBody>
      </p:sp>
      <p:pic>
        <p:nvPicPr>
          <p:cNvPr id="3" name="Picture 2" descr="Figur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727076"/>
            <a:ext cx="10972800" cy="47180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5. Preferred T1 event-study estimates using unweighted Fukushima municipal controls. Points are year-specific coefficients relative to the omitted reference year; bars are 95% confidence intervals. The acute disaster year 2011 is shown but excluded from the 2012-2019 average-treatment-effect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6</a:t>
            </a:r>
          </a:p>
        </p:txBody>
      </p:sp>
      <p:pic>
        <p:nvPicPr>
          <p:cNvPr id="3" name="Picture 2" descr="Figur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287" y="594360"/>
            <a:ext cx="7659119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6. T1 acute-phase mortality decomposition for 2011. Expected deaths are projected from the pre-disaster municipal trend; direct disaster deaths are reported by Fukushima Prefecture; residual excess is the arithmetic difference and is not assigned to a single cause.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Figure 7</a:t>
            </a:r>
          </a:p>
        </p:txBody>
      </p:sp>
      <p:pic>
        <p:nvPicPr>
          <p:cNvPr id="3" name="Picture 2" descr="Figur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19324"/>
            <a:ext cx="10972800" cy="45335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Figure 7. Kansas and synthetic Kansas, 1997-2019. Panel (a) reports log real individual income-tax revenue per capita; panel (b) reports log real GDP per capita. Synthetic controls use the main 33-state donor pool. Shading marks 2013-2017, between implementation and legislative reversal.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/>
              <a:t>Appendix Figure A1</a:t>
            </a:r>
          </a:p>
        </p:txBody>
      </p:sp>
      <p:pic>
        <p:nvPicPr>
          <p:cNvPr id="3" name="Picture 2" descr="Figure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670" y="594360"/>
            <a:ext cx="6704354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50992"/>
            <a:ext cx="11247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/>
              <a:t>Appendix Figure A1. Kansas neighboring-state difference-in-differences event studies for real GDP per capita, employment, total tax revenue, and individual income-tax revenue. Coefficients are relative to 2012; bars are 95% confidence intervals.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1. Cross-domain mapping classifications by category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516636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Robust nonlinear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significant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Outlier 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Overfitting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Insufficient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Agriculture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Demography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Economics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Environmental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Physics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Political Science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Psychology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Public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516636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1. Cross-domain mapping classifications by category. Counts describe the purposive relationship-dataset inventory and are not prevalence estimates for scientific theories or literatures.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2. Fukushima difference-in-differences estimates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</a:tblGrid>
              <a:tr h="397412">
                <a:tc>
                  <a:txBody>
                    <a:bodyPr/>
                    <a:lstStyle/>
                    <a:p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ATT (log points)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Permutation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Pre-trend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Implied deaths 2012-2019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-877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-1,018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-1,123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-1,109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-1,333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-1,291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-1,322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-1,224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-405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T1w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-451</a:t>
                      </a:r>
                    </a:p>
                  </a:txBody>
                  <a:tcPr/>
                </a:tc>
              </a:tr>
              <a:tr h="397412"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prefectures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-93</a:t>
                      </a:r>
                    </a:p>
                  </a:txBody>
                  <a:tcPr/>
                </a:tc>
              </a:tr>
              <a:tr h="397416">
                <a:tc>
                  <a:txBody>
                    <a:bodyPr/>
                    <a:lstStyle/>
                    <a:p>
                      <a:r>
                        <a:t>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-146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2. Fukushima difference-in-differences estimates. ATT is the 2012-2019 average difference in log crude death rates; 2011 is excluded. Permutation p values use 1000 assignments. Implied deaths are descriptive transformations of recorded municipal deaths and are not causal death counts.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3. Fukushima measured mortality quantities and published radiological-risk projections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369025">
                <a:tc>
                  <a:txBody>
                    <a:bodyPr/>
                    <a:lstStyle/>
                    <a:p>
                      <a:r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observed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2,996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expected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excess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Of which direct disaster deaths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Prefecture, 2014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residual excess deaths 2011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T1 implied difference 2012-2019 (recorded)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-1,322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 municipalities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This study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Certified disaster-related deaths, Fukushima Prefecture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 prefecture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Reconstruction Agency, 2026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Projected worldwide cancer deaths from the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 (15-1,100)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Worldwide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ten Hoeve &amp; Jacobson, 2012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Evacuation-avoided radiological mortalities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 (3-245)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Worldwide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ten Hoeve &amp; Jacobson, 2012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Lifetime-risk relative increases in the most affected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leukaemia up to 7%; breast up to 6%; all solid cancers up to 4%; thyroid up to 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Most affected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WHO, 2013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WHO conclusion outside 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discernible increase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Outside Japan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WHO, 2013</a:t>
                      </a:r>
                    </a:p>
                  </a:txBody>
                  <a:tcPr/>
                </a:tc>
              </a:tr>
              <a:tr h="369025">
                <a:tc>
                  <a:txBody>
                    <a:bodyPr/>
                    <a:lstStyle/>
                    <a:p>
                      <a:r>
                        <a:t>Collective effective dose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 / 36 / 48 thousand man-Sv (first year / ten years / lifetime)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Japanese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UNSCEAR, 2014</a:t>
                      </a:r>
                    </a:p>
                  </a:txBody>
                  <a:tcPr/>
                </a:tc>
              </a:tr>
              <a:tr h="369035">
                <a:tc>
                  <a:txBody>
                    <a:bodyPr/>
                    <a:lstStyle/>
                    <a:p>
                      <a:r>
                        <a:t>UNSCEAR 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discernible increase expected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Exposed 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Projected (LNT-based)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UNSCEAR, 2014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3. Fukushima measured mortality quantities and published radiological-risk projections. Rows differ in population, geography, time horizon, measurement, and model basis and must not be added or interpreted as commensurate estimands.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4. Kansas synthetic-control estimates by outcome and donor pool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  <a:gridCol w="1290320"/>
              </a:tblGrid>
              <a:tr h="574040">
                <a:tc>
                  <a:txBody>
                    <a:bodyPr/>
                    <a:lstStyle/>
                    <a:p>
                      <a:r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Gap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Permutation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Pre-RMSPE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in-time placebo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LOO range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GDP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0.009 to 0.029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GDP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Nonfarm employment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-0.014 to -0.001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Nonfarm employment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total 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-0.039 to -0.028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total 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individual income-tax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-0.322 to -0.291</a:t>
                      </a:r>
                    </a:p>
                  </a:txBody>
                  <a:tcPr/>
                </a:tc>
              </a:tr>
              <a:tr h="574040">
                <a:tc>
                  <a:txBody>
                    <a:bodyPr/>
                    <a:lstStyle/>
                    <a:p>
                      <a:r>
                        <a:t>Real individual income-tax revenue per capita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4. Kansas synthetic-control estimates by outcome and donor pool. Mean gaps cover 2013-2017. Permutation p values compare Kansas with donor-state placebo gaps; LOO denotes leave-one-donor-out sensitivity.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Table 5. Cross-case synthesis of the two policy applications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645795">
                <a:tc>
                  <a:txBody>
                    <a:bodyPr/>
                    <a:lstStyle/>
                    <a:p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Fukushima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Kansas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r>
                        <a:t>Policy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 and radiation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Fiscal policy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r>
                        <a:t>Canonical 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Dose-response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Tax rate-revenue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r>
                        <a:t>Decision-relevant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Low-dose slope and extrapolation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Local slope and turning point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r>
                        <a:t>Central uncertainty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Extrapolation below the observed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Unknown position and behavioral response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r>
                        <a:t>Principal downside of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Health and displacement harms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 and growth effects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r>
                        <a:t>Reversibility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Relatively 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Comparatively greater</a:t>
                      </a:r>
                    </a:p>
                  </a:txBody>
                  <a:tcPr/>
                </a:tc>
              </a:tr>
              <a:tr h="645795">
                <a:tc>
                  <a:txBody>
                    <a:bodyPr/>
                    <a:lstStyle/>
                    <a:p>
                      <a:r>
                        <a:t>Functional-form dependence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if action changes under alternative plausible shapes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if expected fiscal response depends on local curve geometry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Table 5. Cross-case synthesis of the two policy applications. The cases are not statistically comparable; the comparison illustrates that functional-form dependence arises through different mechanisms in different policy settings.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Appendix Table A1. Municipalities excluded from the Fukushima panel because of missing mortality or population observations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184512">
                <a:tc>
                  <a:txBody>
                    <a:bodyPr/>
                    <a:lstStyle/>
                    <a:p>
                      <a:r>
                        <a:t>Prefecture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Municipality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Years missing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Hachimantai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Oshu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Takizawa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2005,2006,2007,2008,2009,2010,2011,2012,2013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Nishiwaga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Iwate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Hirono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Aoba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Miyagino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Wakabayashi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Taihaku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Izumi Ward, Sendai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Shiogama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2006,2007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Kurihara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Higashimatsushima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Osaki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Tomiya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2005,2006,2007,2008,2009,2010,2011,2012,2013,2014,2015,2016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Shichikashuku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2007,2008,2009,2010,2011,2012,2013,2014,2015,2016,2017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Shichigahama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2007,2008,2009,2010,2011,2012,2013,2014,2015,2016,2017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 not observed under a single code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Miyagi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Minamisanriku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Yamagata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Shonai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Fukushima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Motomiya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Kasumigaura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2006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Sakuragawa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Kamisu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12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Namegata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  <a:tr h="184536">
                <a:tc>
                  <a:txBody>
                    <a:bodyPr/>
                    <a:lstStyle/>
                    <a:p>
                      <a:r>
                        <a:t>Ibaraki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Hokota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Population missing in at least one year 2005-2019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Appendix Table A1. Municipalities excluded from the Fukushima panel because of missing mortality or population observations. Exclusions are determined before outcome estimation.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Appendix Table A2. Unit-level Fukushima synthetic-control results for T1 municipalities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1161288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469669">
                <a:tc>
                  <a:txBody>
                    <a:bodyPr/>
                    <a:lstStyle/>
                    <a:p>
                      <a:r>
                        <a:t>Municipality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Pre-RMSPE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Post-RMSPE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Mean gap 2012-2019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Permutation p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Minamisoma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0.0293004359789378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0.1839369029359153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-0.0106632202853943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Kawamata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0.0097976486915868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0.0816468760361608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0.0551197222469218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0.3333333333333333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Naraha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0.0884818531208004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0.2043826907729224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-0.1279509738692234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0.7142857142857143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Tomioka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0.0593407198568021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0.1644916020423305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-0.1516691449521056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Kawauchi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0.0444060903046119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0.148073524583365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0.0831437141637636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Okuma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0.1444174894492124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0.3036511289006508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-0.2680255705173741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0.5625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Futaba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0.0489068465462831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0.2571351506549926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-0.1909625137928648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0.2857142857142857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Namie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0.004382533378559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0.1800522917924872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-0.098411662199711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0.2631578947368421</a:t>
                      </a:r>
                    </a:p>
                  </a:txBody>
                  <a:tcPr/>
                </a:tc>
              </a:tr>
              <a:tr h="469669">
                <a:tc>
                  <a:txBody>
                    <a:bodyPr/>
                    <a:lstStyle/>
                    <a:p>
                      <a:r>
                        <a:t>Katsurao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0.1826943753700668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0.2488059139201824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-0.1367370317019828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0.8333333333333334</a:t>
                      </a:r>
                    </a:p>
                  </a:txBody>
                  <a:tcPr/>
                </a:tc>
              </a:tr>
              <a:tr h="469670">
                <a:tc>
                  <a:txBody>
                    <a:bodyPr/>
                    <a:lstStyle/>
                    <a:p>
                      <a:r>
                        <a:t>Iitate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0.0168998085544957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0.1182144350993184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-0.0265778280351051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0.3043478260869565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Appendix Table A2. Unit-level Fukushima synthetic-control results for T1 municipalities. Mean gaps cover 2012-2019; permutation p values compare treated and placebo-unit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