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1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46" y="594360"/>
            <a:ext cx="4317401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1. Evidence-to-policy appraisal sequence for functional-form dependence. The same analytical sequence is applied to both applications: the empirical relationship, the assumed functional form, the policy-relevant range, decision dependence, asymmetric consequences, and the action architecture. Transportability and reversibility condition every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Supplement Figure S1</a:t>
            </a:r>
          </a:p>
        </p:txBody>
      </p:sp>
      <p:pic>
        <p:nvPicPr>
          <p:cNvPr id="3" name="Picture 2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07" y="594360"/>
            <a:ext cx="469147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Supplement Figure S1. Diagnostic used in the cross-domain mapping exercise. Green paths continue toward robust nonlinear classification; orange paths indicate the first unmet criterion. Insufficient data is assigned when influence removal leaves too few observations for the nested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2</a:t>
            </a:r>
          </a:p>
        </p:txBody>
      </p:sp>
      <p:pic>
        <p:nvPicPr>
          <p:cNvPr id="3" name="Picture 2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60" y="594360"/>
            <a:ext cx="748737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2. Share of 50 relationship-dataset pairs not classified as robustly nonlinear across significance levels and Cook-distance removal counts. Cell labels report percentages; the colour scale spans 0-100%.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3</a:t>
            </a:r>
          </a:p>
        </p:txBody>
      </p:sp>
      <p:pic>
        <p:nvPicPr>
          <p:cNvPr id="3" name="Picture 2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47" y="594360"/>
            <a:ext cx="972119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3. Pooled crude death rates in Fukushima treatment and control groups. T1 contains 10 mandatory-evacuation municipalities; T1w is the restricted complete-evacuation group; T2 contains comparison municipalities subject to other evacuation-related classifications. The shaded region is the 2012-2019 average-treatment-effect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Supplement Figure S3</a:t>
            </a:r>
          </a:p>
        </p:txBody>
      </p:sp>
      <p:pic>
        <p:nvPicPr>
          <p:cNvPr id="3" name="Picture 2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727076"/>
            <a:ext cx="10972800" cy="4718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Supplement Figure S3. Preferred T1 event-study estimates using unweighted Fukushima municipal controls. Points are year-specific coefficients relative to the omitted reference year; bars are 95% confidence intervals. The acute disaster year 2011 is shown but excluded from the 2012-2019 average-treatment-effect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Supplement Figure S4</a:t>
            </a:r>
          </a:p>
        </p:txBody>
      </p:sp>
      <p:pic>
        <p:nvPicPr>
          <p:cNvPr id="3" name="Picture 2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87" y="594360"/>
            <a:ext cx="765911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Supplement Figure S4. T1 acute-phase mortality decomposition for 2011. Expected deaths are projected from the pre-disaster municipal trend; direct disaster deaths are reported by Fukushima Prefecture; residual excess is the arithmetic difference and is not assigned to a single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4</a:t>
            </a:r>
          </a:p>
        </p:txBody>
      </p:sp>
      <p:pic>
        <p:nvPicPr>
          <p:cNvPr id="3" name="Picture 2" descr="Figur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19324"/>
            <a:ext cx="10972800" cy="4533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4. Kansas and synthetic Kansas, 1997-2019. Panel (a) reports log real individual income-tax revenue per capita; panel (b) reports log GDP per capita. Synthetic controls use the main 33-state donor pool. Shading marks 2013-2017, between implementation and legislative reversal.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Supplement Figure S2</a:t>
            </a:r>
          </a:p>
        </p:txBody>
      </p:sp>
      <p:pic>
        <p:nvPicPr>
          <p:cNvPr id="3" name="Picture 2" descr="Figure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70" y="594360"/>
            <a:ext cx="670435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Supplement Figure S2. Kansas neighbouring-state difference-in-differences event studies for real GDP per capita, employment, total tax revenue, and individual income-tax revenue. Coefficients are relative to 2012; bars are 95% confidence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1. Cross-domain mapping classifications by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16636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 nonlinear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Outlier 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Demography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Economics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Environmental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Political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Psychology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Public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1. Cross-domain mapping classifications by category. Counts describe the purposive relationship-dataset inventory and are not prevalence estimates for scientific theories or literatures.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Supplement Table S3. Fukushima difference-in-differences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397412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 (log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Pre-trend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Implied deaths 2012-2019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-877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-1,018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-1,123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-1,109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-1,333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-1,291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-1,224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-405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-451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-93</a:t>
                      </a:r>
                    </a:p>
                  </a:txBody>
                  <a:tcPr/>
                </a:tc>
              </a:tr>
              <a:tr h="397416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Supplement Table S3. Fukushima difference-in-differences estimates. ATT is the 2012-2019 average difference in log crude death rates; 2011 is excluded. Permutation p values use 1000 assignments. Implied deaths are descriptive transformations of recorded municipal deaths and are not causal death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Supplement Table S4. Fukushima measured mortality quantities and published radiological-risk projections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9025"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observed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expected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Of which direct disaster deaths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Prefecture, 2014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residual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implied difference 2012-2019 (recorded)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Certified disaster-related deaths, 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Reconstruction Agency, 2026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Projected worldwide cancer deaths from the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 (15-1,100)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Evacuation-avoided radiological mortalities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(3-245)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Lifetime-risk relative increases in the 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leukaemia up to 7%; breast up to 6%; all solid cancers up to 4%; thyroid up to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WHO conclusion 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Collective effective dose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 / 36 / 48 thousand man-Sv (first year / ten years / lifetime)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Japanese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  <a:tr h="369035">
                <a:tc>
                  <a:txBody>
                    <a:bodyPr/>
                    <a:lstStyle/>
                    <a:p>
                      <a:r>
                        <a:t>UNSCEAR 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 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Exposed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Supplement Table S4. Fukushima measured mortality quantities and published radiological-risk projections. Rows differ in population, geography, time horizon, measurement, and model basis and must not be added or interpreted as commensurate estimands.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Supplement Table S5. Kansas synthetic-control estimates by outcome and donor pool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574040">
                <a:tc>
                  <a:txBody>
                    <a:bodyPr/>
                    <a:lstStyle/>
                    <a:p>
                      <a: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Gap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in-time 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 range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 to 0.029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-0.014 to -0.001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-0.039 to -0.028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-0.322 to -0.291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Supplement Table S5. Kansas synthetic-control estimates by outcome and donor pool. Mean gaps cover 2013-2017. Permutation p values compare Kansas with donor-state placebo gaps; LOO denotes leave-one-donor-out sensitivity.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2. Cross-case synthesis of the two applications across the evidence-to-policy dimensions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45795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Kansas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Policy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 and radiation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Fiscal policy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Canonical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Dose-response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 rate-revenue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Decision-relevant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Low-dose slope and extrapolation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 slope and turning point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Central uncertainty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Extrapolation below the observed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 position and behavioral response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Principal downside of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 and displacement harms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and growth effects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Reversibility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Relatively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Comparatively greater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Functional-form dependence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if action changes under alternative plausible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if expected fiscal response depends on local curve geometry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2. Cross-case synthesis of the two applications across the evidence-to-policy dimensions. The applications are not statistically comparable.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Supplement Table S1. Municipalities excluded from the Fukushima panel because of missing mortality or population observations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84512">
                <a:tc>
                  <a:txBody>
                    <a:bodyPr/>
                    <a:lstStyle/>
                    <a:p>
                      <a:r>
                        <a:t>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 missing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Hachimantai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Takizawa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Nishiwaga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Hirono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Aoba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Miyagino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Wakabayashi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Taihaku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Izumi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Shiogama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Kurihara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Higashimatsushima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2005,2006,2007,2008,2009,2010,2011,2012,2013,2014,2015,2016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Shichikashuku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Shichigahama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Minamisanriku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Yamagata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Fukushima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Kasumigaura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Sakuragawa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Kamisu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36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Hokota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Supplement Table S1. Municipalities excluded from the Fukushima panel because of missing mortality or population observations. Exclusions are determined before outcome estimation.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Supplement Table S2. Unit-level Fukushima synthetic-control results for T1 municipalities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69669"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 2012-2019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Minamisoma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Naraha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0.714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Tomioka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Kawauchi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Okuma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0.562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Futaba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0.286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Katsurao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0.833</a:t>
                      </a:r>
                    </a:p>
                  </a:txBody>
                  <a:tcPr/>
                </a:tc>
              </a:tr>
              <a:tr h="469670">
                <a:tc>
                  <a:txBody>
                    <a:bodyPr/>
                    <a:lstStyle/>
                    <a:p>
                      <a:r>
                        <a:t>Iitate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Supplement Table S2. Unit-level Fukushima synthetic-control results for T1 municipalities. Mean gaps cover 2012-2019; permutation p values compare treated and placebo-unit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