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/>
              <a:t>Figure 1</a:t>
            </a:r>
          </a:p>
        </p:txBody>
      </p:sp>
      <p:pic>
        <p:nvPicPr>
          <p:cNvPr id="3" name="Picture 2" descr="Figur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7146" y="594360"/>
            <a:ext cx="4317401" cy="4983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50992"/>
            <a:ext cx="11247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/>
              <a:t>Figure 1. Comparative appraisal sequence for functional-form dependence. The same analytical sequence is applied to both cases: the empirical relationship, the decision-relevant shape, evidence in the policy range, decision sensitivity, consequence asymmetry, and reversibility and learning. Fukushima entries appear before the vertical bar; Kansas entries after 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/>
              <a:t>Figure 2</a:t>
            </a:r>
          </a:p>
        </p:txBody>
      </p:sp>
      <p:pic>
        <p:nvPicPr>
          <p:cNvPr id="3" name="Picture 2" descr="Figur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0107" y="594360"/>
            <a:ext cx="4691479" cy="4983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50992"/>
            <a:ext cx="11247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/>
              <a:t>Figure 2. Diagnostic used in the cross-domain mapping exercise. Green paths continue toward robust nonlinear classification; orange paths indicate the first unmet criterion. Insufficient data is assigned when influence removal leaves too few observations for the nested comparison.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/>
              <a:t>Figure 3</a:t>
            </a:r>
          </a:p>
        </p:txBody>
      </p:sp>
      <p:pic>
        <p:nvPicPr>
          <p:cNvPr id="3" name="Picture 2" descr="Figur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160" y="594360"/>
            <a:ext cx="7487374" cy="4983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50992"/>
            <a:ext cx="11247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/>
              <a:t>Figure 3. Share of 50 relationship-dataset pairs not classified as robustly nonlinear across significance levels and Cook-distance removal counts. Cell labels report percentages; the color scale spans 0-100%.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/>
              <a:t>Figure 4</a:t>
            </a:r>
          </a:p>
        </p:txBody>
      </p:sp>
      <p:pic>
        <p:nvPicPr>
          <p:cNvPr id="3" name="Picture 2" descr="Figur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247" y="594360"/>
            <a:ext cx="9721199" cy="4983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50992"/>
            <a:ext cx="11247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/>
              <a:t>Figure 4. Pooled crude death rates in Fukushima treatment and control groups. T1 contains 10 mandatory-evacuation municipalities; T1w is the restricted complete-evacuation group; T2 contains comparison municipalities subject to other evacuation-related classifications. The shaded region is the 2012-2019 average-treatment-effect window.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/>
              <a:t>Figure 5</a:t>
            </a:r>
          </a:p>
        </p:txBody>
      </p:sp>
      <p:pic>
        <p:nvPicPr>
          <p:cNvPr id="3" name="Picture 2" descr="Figur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727076"/>
            <a:ext cx="10972800" cy="471804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50992"/>
            <a:ext cx="11247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/>
              <a:t>Figure 5. Preferred T1 event-study estimates using unweighted Fukushima municipal controls. Points are year-specific coefficients relative to the omitted reference year; bars are 95% confidence intervals. The acute disaster year 2011 is shown but excluded from the 2012-2019 average-treatment-effect window.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/>
              <a:t>Figure 6</a:t>
            </a:r>
          </a:p>
        </p:txBody>
      </p:sp>
      <p:pic>
        <p:nvPicPr>
          <p:cNvPr id="3" name="Picture 2" descr="Figur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287" y="594360"/>
            <a:ext cx="7659119" cy="4983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50992"/>
            <a:ext cx="11247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/>
              <a:t>Figure 6. T1 acute-phase mortality decomposition for 2011. Expected deaths are projected from the pre-disaster municipal trend; direct disaster deaths are reported by Fukushima Prefecture; residual excess is the arithmetic difference and is not assigned to a single cause.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/>
              <a:t>Figure 7</a:t>
            </a:r>
          </a:p>
        </p:txBody>
      </p:sp>
      <p:pic>
        <p:nvPicPr>
          <p:cNvPr id="3" name="Picture 2" descr="Figur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819324"/>
            <a:ext cx="10972800" cy="45335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50992"/>
            <a:ext cx="11247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/>
              <a:t>Figure 7. Kansas and synthetic Kansas, 1997-2019. Panel (a) reports log real individual income-tax revenue per capita; panel (b) reports log GDP per capita. Synthetic controls use the main 33-state donor pool. Shading marks 2013-2017, between implementation and legislative reversal.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/>
              <a:t>Appendix Figure A1</a:t>
            </a:r>
          </a:p>
        </p:txBody>
      </p:sp>
      <p:pic>
        <p:nvPicPr>
          <p:cNvPr id="3" name="Picture 2" descr="Figure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670" y="594360"/>
            <a:ext cx="6704354" cy="4983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50992"/>
            <a:ext cx="11247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/>
              <a:t>Appendix Figure A1. Kansas neighboring-state difference-in-differences event studies for real GDP per capita, employment, total tax revenue, and individual income-tax revenue. Coefficients are relative to 2012; bars are 95% confidence intervals.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/>
              <a:t>Table 1. Cross-domain mapping classifications by category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1161288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8982"/>
                <a:gridCol w="1658982"/>
                <a:gridCol w="1658982"/>
                <a:gridCol w="1658982"/>
                <a:gridCol w="1658982"/>
                <a:gridCol w="1658982"/>
                <a:gridCol w="1658988"/>
              </a:tblGrid>
              <a:tr h="516636">
                <a:tc>
                  <a:txBody>
                    <a:bodyPr/>
                    <a:lstStyle/>
                    <a:p>
                      <a: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Robust nonlinear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significant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Outlier dependent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Overfitting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Insufficient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Total</a:t>
                      </a:r>
                    </a:p>
                  </a:txBody>
                  <a:tcPr/>
                </a:tc>
              </a:tr>
              <a:tr h="516636">
                <a:tc>
                  <a:txBody>
                    <a:bodyPr/>
                    <a:lstStyle/>
                    <a:p>
                      <a:r>
                        <a:t>Agriculture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</a:tr>
              <a:tr h="516636">
                <a:tc>
                  <a:txBody>
                    <a:bodyPr/>
                    <a:lstStyle/>
                    <a:p>
                      <a:r>
                        <a:t>Demography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</a:tr>
              <a:tr h="516636">
                <a:tc>
                  <a:txBody>
                    <a:bodyPr/>
                    <a:lstStyle/>
                    <a:p>
                      <a:r>
                        <a:t>Economics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</a:tr>
              <a:tr h="516636">
                <a:tc>
                  <a:txBody>
                    <a:bodyPr/>
                    <a:lstStyle/>
                    <a:p>
                      <a:r>
                        <a:t>Environmental Science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</a:tr>
              <a:tr h="516636">
                <a:tc>
                  <a:txBody>
                    <a:bodyPr/>
                    <a:lstStyle/>
                    <a:p>
                      <a:r>
                        <a:t>Physics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</a:tr>
              <a:tr h="516636">
                <a:tc>
                  <a:txBody>
                    <a:bodyPr/>
                    <a:lstStyle/>
                    <a:p>
                      <a:r>
                        <a:t>Political Science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</a:tr>
              <a:tr h="516636">
                <a:tc>
                  <a:txBody>
                    <a:bodyPr/>
                    <a:lstStyle/>
                    <a:p>
                      <a:r>
                        <a:t>Psychology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</a:tr>
              <a:tr h="516636">
                <a:tc>
                  <a:txBody>
                    <a:bodyPr/>
                    <a:lstStyle/>
                    <a:p>
                      <a:r>
                        <a:t>Public Health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</a:tr>
              <a:tr h="516636">
                <a:tc>
                  <a:txBody>
                    <a:bodyPr/>
                    <a:lstStyle/>
                    <a:p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9893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/>
              <a:t>Table 1. Cross-domain mapping classifications by category. Counts describe the purposive relationship-dataset inventory and are not prevalence estimates for scientific theories or literatures.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/>
              <a:t>Table 2. Fukushima difference-in-differences estimates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1161288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1610"/>
                <a:gridCol w="1451610"/>
                <a:gridCol w="1451610"/>
                <a:gridCol w="1451610"/>
                <a:gridCol w="1451610"/>
                <a:gridCol w="1451610"/>
                <a:gridCol w="1451610"/>
                <a:gridCol w="1451610"/>
              </a:tblGrid>
              <a:tr h="397412">
                <a:tc>
                  <a:txBody>
                    <a:bodyPr/>
                    <a:lstStyle/>
                    <a:p>
                      <a:r>
                        <a:t>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Controls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Weighting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Age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ATT (log points)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Permutation 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Pre-trend 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Implied deaths 2012-2019</a:t>
                      </a:r>
                    </a:p>
                  </a:txBody>
                  <a:tcPr/>
                </a:tc>
              </a:tr>
              <a:tr h="397412">
                <a:tc>
                  <a:txBody>
                    <a:bodyPr/>
                    <a:lstStyle/>
                    <a:p>
                      <a:r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All prefectures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Weighted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-877</a:t>
                      </a:r>
                    </a:p>
                  </a:txBody>
                  <a:tcPr/>
                </a:tc>
              </a:tr>
              <a:tr h="397412">
                <a:tc>
                  <a:txBody>
                    <a:bodyPr/>
                    <a:lstStyle/>
                    <a:p>
                      <a:r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All prefectures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Weighted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0.335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-1,018</a:t>
                      </a:r>
                    </a:p>
                  </a:txBody>
                  <a:tcPr/>
                </a:tc>
              </a:tr>
              <a:tr h="397412">
                <a:tc>
                  <a:txBody>
                    <a:bodyPr/>
                    <a:lstStyle/>
                    <a:p>
                      <a:r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All prefectures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Unweighted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-1,123</a:t>
                      </a:r>
                    </a:p>
                  </a:txBody>
                  <a:tcPr/>
                </a:tc>
              </a:tr>
              <a:tr h="397412">
                <a:tc>
                  <a:txBody>
                    <a:bodyPr/>
                    <a:lstStyle/>
                    <a:p>
                      <a:r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All prefectures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Unweighted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-1,109</a:t>
                      </a:r>
                    </a:p>
                  </a:txBody>
                  <a:tcPr/>
                </a:tc>
              </a:tr>
              <a:tr h="397412">
                <a:tc>
                  <a:txBody>
                    <a:bodyPr/>
                    <a:lstStyle/>
                    <a:p>
                      <a:r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Fukushima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Weighted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-1,333</a:t>
                      </a:r>
                    </a:p>
                  </a:txBody>
                  <a:tcPr/>
                </a:tc>
              </a:tr>
              <a:tr h="397412">
                <a:tc>
                  <a:txBody>
                    <a:bodyPr/>
                    <a:lstStyle/>
                    <a:p>
                      <a:r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Fukushima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Weighted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-1,291</a:t>
                      </a:r>
                    </a:p>
                  </a:txBody>
                  <a:tcPr/>
                </a:tc>
              </a:tr>
              <a:tr h="397412">
                <a:tc>
                  <a:txBody>
                    <a:bodyPr/>
                    <a:lstStyle/>
                    <a:p>
                      <a:r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Fukushima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Unweighted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0.314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-1,322</a:t>
                      </a:r>
                    </a:p>
                  </a:txBody>
                  <a:tcPr/>
                </a:tc>
              </a:tr>
              <a:tr h="397412">
                <a:tc>
                  <a:txBody>
                    <a:bodyPr/>
                    <a:lstStyle/>
                    <a:p>
                      <a:r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Fukushima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Unweighted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-1,224</a:t>
                      </a:r>
                    </a:p>
                  </a:txBody>
                  <a:tcPr/>
                </a:tc>
              </a:tr>
              <a:tr h="397412">
                <a:tc>
                  <a:txBody>
                    <a:bodyPr/>
                    <a:lstStyle/>
                    <a:p>
                      <a:r>
                        <a:t>T1w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All prefectures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Unweighted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-0.116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-405</a:t>
                      </a:r>
                    </a:p>
                  </a:txBody>
                  <a:tcPr/>
                </a:tc>
              </a:tr>
              <a:tr h="397412">
                <a:tc>
                  <a:txBody>
                    <a:bodyPr/>
                    <a:lstStyle/>
                    <a:p>
                      <a:r>
                        <a:t>T1w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Fukushima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Unweighted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-0.129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-451</a:t>
                      </a:r>
                    </a:p>
                  </a:txBody>
                  <a:tcPr/>
                </a:tc>
              </a:tr>
              <a:tr h="397412">
                <a:tc>
                  <a:txBody>
                    <a:bodyPr/>
                    <a:lstStyle/>
                    <a:p>
                      <a:r>
                        <a:t>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All prefectures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Unweighted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-93</a:t>
                      </a:r>
                    </a:p>
                  </a:txBody>
                  <a:tcPr/>
                </a:tc>
              </a:tr>
              <a:tr h="397416">
                <a:tc>
                  <a:txBody>
                    <a:bodyPr/>
                    <a:lstStyle/>
                    <a:p>
                      <a:r>
                        <a:t>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Fukushima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Unweighted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-146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9893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/>
              <a:t>Table 2. Fukushima difference-in-differences estimates. ATT is the 2012-2019 average difference in log crude death rates; 2011 is excluded. Permutation p values use 1000 assignments. Implied deaths are descriptive transformations of recorded municipal deaths and are not causal death counts.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/>
              <a:t>Table 3. Fukushima measured mortality quantities and published radiological-risk projections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1161288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576"/>
                <a:gridCol w="2322576"/>
                <a:gridCol w="2322576"/>
                <a:gridCol w="2322576"/>
                <a:gridCol w="2322576"/>
              </a:tblGrid>
              <a:tr h="369025">
                <a:tc>
                  <a:txBody>
                    <a:bodyPr/>
                    <a:lstStyle/>
                    <a:p>
                      <a:r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Source</a:t>
                      </a:r>
                    </a:p>
                  </a:txBody>
                  <a:tcPr/>
                </a:tc>
              </a:tr>
              <a:tr h="369025">
                <a:tc>
                  <a:txBody>
                    <a:bodyPr/>
                    <a:lstStyle/>
                    <a:p>
                      <a:r>
                        <a:t>T1 observed deaths 2011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2,996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T1 municipalities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Measured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This study</a:t>
                      </a:r>
                    </a:p>
                  </a:txBody>
                  <a:tcPr/>
                </a:tc>
              </a:tr>
              <a:tr h="369025">
                <a:tc>
                  <a:txBody>
                    <a:bodyPr/>
                    <a:lstStyle/>
                    <a:p>
                      <a:r>
                        <a:t>T1 expected deaths 2011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2,060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T1 municipalities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Measured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This study</a:t>
                      </a:r>
                    </a:p>
                  </a:txBody>
                  <a:tcPr/>
                </a:tc>
              </a:tr>
              <a:tr h="369025">
                <a:tc>
                  <a:txBody>
                    <a:bodyPr/>
                    <a:lstStyle/>
                    <a:p>
                      <a:r>
                        <a:t>T1 excess deaths 2011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T1 municipalities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Measured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This study</a:t>
                      </a:r>
                    </a:p>
                  </a:txBody>
                  <a:tcPr/>
                </a:tc>
              </a:tr>
              <a:tr h="369025">
                <a:tc>
                  <a:txBody>
                    <a:bodyPr/>
                    <a:lstStyle/>
                    <a:p>
                      <a:r>
                        <a:t>Of which direct disaster deaths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T1 municipalities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Measured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Fukushima Prefecture, 2014</a:t>
                      </a:r>
                    </a:p>
                  </a:txBody>
                  <a:tcPr/>
                </a:tc>
              </a:tr>
              <a:tr h="369025">
                <a:tc>
                  <a:txBody>
                    <a:bodyPr/>
                    <a:lstStyle/>
                    <a:p>
                      <a:r>
                        <a:t>T1 residual excess deaths 2011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T1 municipalities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Measured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This study</a:t>
                      </a:r>
                    </a:p>
                  </a:txBody>
                  <a:tcPr/>
                </a:tc>
              </a:tr>
              <a:tr h="369025">
                <a:tc>
                  <a:txBody>
                    <a:bodyPr/>
                    <a:lstStyle/>
                    <a:p>
                      <a:r>
                        <a:t>T1 implied difference 2012-2019 (recorded)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-1,322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T1 municipalities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Measured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This study</a:t>
                      </a:r>
                    </a:p>
                  </a:txBody>
                  <a:tcPr/>
                </a:tc>
              </a:tr>
              <a:tr h="369025">
                <a:tc>
                  <a:txBody>
                    <a:bodyPr/>
                    <a:lstStyle/>
                    <a:p>
                      <a:r>
                        <a:t>Certified disaster-related deaths, Fukushima Prefecture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2,350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Fukushima prefecture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Measured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Reconstruction Agency, 2026</a:t>
                      </a:r>
                    </a:p>
                  </a:txBody>
                  <a:tcPr/>
                </a:tc>
              </a:tr>
              <a:tr h="369025">
                <a:tc>
                  <a:txBody>
                    <a:bodyPr/>
                    <a:lstStyle/>
                    <a:p>
                      <a:r>
                        <a:t>Projected worldwide cancer deaths from the release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130 (15-1,100)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Worldwide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Projected (LNT-based)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ten Hoeve &amp; Jacobson, 2012</a:t>
                      </a:r>
                    </a:p>
                  </a:txBody>
                  <a:tcPr/>
                </a:tc>
              </a:tr>
              <a:tr h="369025">
                <a:tc>
                  <a:txBody>
                    <a:bodyPr/>
                    <a:lstStyle/>
                    <a:p>
                      <a:r>
                        <a:t>Evacuation-avoided radiological mortalities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 (3-245)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Worldwide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Projected (LNT-based)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ten Hoeve &amp; Jacobson, 2012</a:t>
                      </a:r>
                    </a:p>
                  </a:txBody>
                  <a:tcPr/>
                </a:tc>
              </a:tr>
              <a:tr h="369025">
                <a:tc>
                  <a:txBody>
                    <a:bodyPr/>
                    <a:lstStyle/>
                    <a:p>
                      <a:r>
                        <a:t>Lifetime-risk relative increases in the most affected areas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leukaemia up to 7%; breast up to 6%; all solid cancers up to 4%; thyroid up to 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Most affected areas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Projected (LNT-based)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WHO, 2013</a:t>
                      </a:r>
                    </a:p>
                  </a:txBody>
                  <a:tcPr/>
                </a:tc>
              </a:tr>
              <a:tr h="369025">
                <a:tc>
                  <a:txBody>
                    <a:bodyPr/>
                    <a:lstStyle/>
                    <a:p>
                      <a:r>
                        <a:t>WHO conclusion outside Japan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 discernible increase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Outside Japan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Projected (LNT-based)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WHO, 2013</a:t>
                      </a:r>
                    </a:p>
                  </a:txBody>
                  <a:tcPr/>
                </a:tc>
              </a:tr>
              <a:tr h="369025">
                <a:tc>
                  <a:txBody>
                    <a:bodyPr/>
                    <a:lstStyle/>
                    <a:p>
                      <a:r>
                        <a:t>Collective effective dose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 / 36 / 48 thousand man-Sv (first year / ten years / lifetime)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Japanese population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Projected (LNT-based)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UNSCEAR, 2014</a:t>
                      </a:r>
                    </a:p>
                  </a:txBody>
                  <a:tcPr/>
                </a:tc>
              </a:tr>
              <a:tr h="369035">
                <a:tc>
                  <a:txBody>
                    <a:bodyPr/>
                    <a:lstStyle/>
                    <a:p>
                      <a:r>
                        <a:t>UNSCEAR conclusion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 discernible increase expected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Exposed population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Projected (LNT-based)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UNSCEAR, 2014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9893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/>
              <a:t>Table 3. Fukushima measured mortality quantities and published radiological-risk projections. Rows differ in population, geography, time horizon, measurement, and model basis and must not be added or interpreted as commensurate estimands.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/>
              <a:t>Table 4. Kansas synthetic-control estimates by outcome and donor pool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1161288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0320"/>
                <a:gridCol w="1290320"/>
                <a:gridCol w="1290320"/>
                <a:gridCol w="1290320"/>
                <a:gridCol w="1290320"/>
                <a:gridCol w="1290320"/>
                <a:gridCol w="1290320"/>
                <a:gridCol w="1290320"/>
                <a:gridCol w="1290320"/>
              </a:tblGrid>
              <a:tr h="574040">
                <a:tc>
                  <a:txBody>
                    <a:bodyPr/>
                    <a:lstStyle/>
                    <a:p>
                      <a:r>
                        <a:t>Outcome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Mean gap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Gap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Permutation 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Pre-RMSPE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donors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in-time placebo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LOO range</a:t>
                      </a:r>
                    </a:p>
                  </a:txBody>
                  <a:tcPr/>
                </a:tc>
              </a:tr>
              <a:tr h="574040">
                <a:tc>
                  <a:txBody>
                    <a:bodyPr/>
                    <a:lstStyle/>
                    <a:p>
                      <a:r>
                        <a:t>Real GDP per capita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0.009 to 0.029</a:t>
                      </a:r>
                    </a:p>
                  </a:txBody>
                  <a:tcPr/>
                </a:tc>
              </a:tr>
              <a:tr h="574040">
                <a:tc>
                  <a:txBody>
                    <a:bodyPr/>
                    <a:lstStyle/>
                    <a:p>
                      <a:r>
                        <a:t>Real GDP per capita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All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</a:tr>
              <a:tr h="574040">
                <a:tc>
                  <a:txBody>
                    <a:bodyPr/>
                    <a:lstStyle/>
                    <a:p>
                      <a:r>
                        <a:t>Nonfarm employment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-0.014 to -0.001</a:t>
                      </a:r>
                    </a:p>
                  </a:txBody>
                  <a:tcPr/>
                </a:tc>
              </a:tr>
              <a:tr h="574040">
                <a:tc>
                  <a:txBody>
                    <a:bodyPr/>
                    <a:lstStyle/>
                    <a:p>
                      <a:r>
                        <a:t>Nonfarm employment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All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</a:tr>
              <a:tr h="574040">
                <a:tc>
                  <a:txBody>
                    <a:bodyPr/>
                    <a:lstStyle/>
                    <a:p>
                      <a:r>
                        <a:t>Real total tax revenue per capita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-0.039 to -0.028</a:t>
                      </a:r>
                    </a:p>
                  </a:txBody>
                  <a:tcPr/>
                </a:tc>
              </a:tr>
              <a:tr h="574040">
                <a:tc>
                  <a:txBody>
                    <a:bodyPr/>
                    <a:lstStyle/>
                    <a:p>
                      <a:r>
                        <a:t>Real total tax revenue per capita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All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</a:tr>
              <a:tr h="574040">
                <a:tc>
                  <a:txBody>
                    <a:bodyPr/>
                    <a:lstStyle/>
                    <a:p>
                      <a:r>
                        <a:t>Real individual income-tax revenue per capita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-0.313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-26.9%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-0.322 to -0.291</a:t>
                      </a:r>
                    </a:p>
                  </a:txBody>
                  <a:tcPr/>
                </a:tc>
              </a:tr>
              <a:tr h="574040">
                <a:tc>
                  <a:txBody>
                    <a:bodyPr/>
                    <a:lstStyle/>
                    <a:p>
                      <a:r>
                        <a:t>Real individual income-tax revenue per capita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All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-0.301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-26.0%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9893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/>
              <a:t>Table 4. Kansas synthetic-control estimates by outcome and donor pool. Mean gaps cover 2013-2017. Permutation p values compare Kansas with donor-state placebo gaps; LOO denotes leave-one-donor-out sensitivity.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/>
              <a:t>Table 5. Comparative summary of the two cases across the common dimensions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1161288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322897">
                <a:tc>
                  <a:txBody>
                    <a:bodyPr/>
                    <a:lstStyle/>
                    <a:p>
                      <a:r>
                        <a:t>Comparative dimension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Fukushima evacuation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Kansas tax reform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Comparative lesson</a:t>
                      </a:r>
                    </a:p>
                  </a:txBody>
                  <a:tcPr/>
                </a:tc>
              </a:tr>
              <a:tr h="322897">
                <a:tc>
                  <a:txBody>
                    <a:bodyPr/>
                    <a:lstStyle/>
                    <a:p>
                      <a:r>
                        <a:t>Policy domain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Radiation protection; emergency public health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Fiscal and economic policy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The mechanism is domain-general: a named curve can carry a decision in any sector.</a:t>
                      </a:r>
                    </a:p>
                  </a:txBody>
                  <a:tcPr/>
                </a:tc>
              </a:tr>
              <a:tr h="322897">
                <a:tc>
                  <a:txBody>
                    <a:bodyPr/>
                    <a:lstStyle/>
                    <a:p>
                      <a:r>
                        <a:t>Policy objective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Reduce population radiation exposure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Raise growth while recovering 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Both objectives required a specific shape, not just an association.</a:t>
                      </a:r>
                    </a:p>
                  </a:txBody>
                  <a:tcPr/>
                </a:tc>
              </a:tr>
              <a:tr h="322897">
                <a:tc>
                  <a:txBody>
                    <a:bodyPr/>
                    <a:lstStyle/>
                    <a:p>
                      <a:r>
                        <a:t>Canonical relationship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Low-dose radiation dose-response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Tax rate-revenue and growth 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Named curves compress multi-step arguments into portable pictures.</a:t>
                      </a:r>
                    </a:p>
                  </a:txBody>
                  <a:tcPr/>
                </a:tc>
              </a:tr>
              <a:tr h="322897">
                <a:tc>
                  <a:txBody>
                    <a:bodyPr/>
                    <a:lstStyle/>
                    <a:p>
                      <a:r>
                        <a:t>Decision-relevant 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Low-dose slope below observed doses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Local position, slope, and dynamic 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Each decision needed one feature of the curve, not the curve as a whole.</a:t>
                      </a:r>
                    </a:p>
                  </a:txBody>
                  <a:tcPr/>
                </a:tc>
              </a:tr>
              <a:tr h="322897">
                <a:tc>
                  <a:txBody>
                    <a:bodyPr/>
                    <a:lstStyle/>
                    <a:p>
                      <a:r>
                        <a:t>Type of uncertainty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Extrapolation below the observed 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Local-position and response-geometry uncertainty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Different uncertainty locations produce different appraisal priorities.</a:t>
                      </a:r>
                    </a:p>
                  </a:txBody>
                  <a:tcPr/>
                </a:tc>
              </a:tr>
              <a:tr h="322897">
                <a:tc>
                  <a:txBody>
                    <a:bodyPr/>
                    <a:lstStyle/>
                    <a:p>
                      <a:r>
                        <a:t>Extrapolation burden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High; few observations below 0.1 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Moderate; within-state history but untested rate cut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Extrapolation burden predicts how far evidence can carry a decision.</a:t>
                      </a:r>
                    </a:p>
                  </a:txBody>
                  <a:tcPr/>
                </a:tc>
              </a:tr>
              <a:tr h="322897">
                <a:tc>
                  <a:txBody>
                    <a:bodyPr/>
                    <a:lstStyle/>
                    <a:p>
                      <a:r>
                        <a:t>Transportability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Atomic-bomb and occupational evidence to municipal exposure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Cross-state and theoretical evidence to one state's 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Transport gaps differ in kind; decompose them by population, period, and institution.</a:t>
                      </a:r>
                    </a:p>
                  </a:txBody>
                  <a:tcPr/>
                </a:tc>
              </a:tr>
              <a:tr h="322897">
                <a:tc>
                  <a:txBody>
                    <a:bodyPr/>
                    <a:lstStyle/>
                    <a:p>
                      <a:r>
                        <a:t>Decision sensitivity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Evacuation scope and duration change under plausible dose-response shapes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 outlook changes under plausible local slopes and growth paths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both, plausible alternative shapes imply materially different policies.</a:t>
                      </a:r>
                    </a:p>
                  </a:txBody>
                  <a:tcPr/>
                </a:tc>
              </a:tr>
              <a:tr h="322897">
                <a:tc>
                  <a:txBody>
                    <a:bodyPr/>
                    <a:lstStyle/>
                    <a:p>
                      <a:r>
                        <a:t>Cost of wrong 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Displacement, mortality risk, care disruption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 loss and service compression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Error costs fall on identifiable groups, not on the model.</a:t>
                      </a:r>
                    </a:p>
                  </a:txBody>
                  <a:tcPr/>
                </a:tc>
              </a:tr>
              <a:tr h="322897">
                <a:tc>
                  <a:txBody>
                    <a:bodyPr/>
                    <a:lstStyle/>
                    <a:p>
                      <a:r>
                        <a:t>Cost of inaction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Residual radiation exposure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Foregone growth stimulus claim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Asymmetry must be weighed in both directions, not one.</a:t>
                      </a:r>
                    </a:p>
                  </a:txBody>
                  <a:tcPr/>
                </a:tc>
              </a:tr>
              <a:tr h="322897">
                <a:tc>
                  <a:txBody>
                    <a:bodyPr/>
                    <a:lstStyle/>
                    <a:p>
                      <a:r>
                        <a:t>Consequence asymmetry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Severe on both sides; competing harms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Primarily fiscal; distribution across budgets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Higher asymmetry raises the decision value of shape certainty.</a:t>
                      </a:r>
                    </a:p>
                  </a:txBody>
                  <a:tcPr/>
                </a:tc>
              </a:tr>
              <a:tr h="322897">
                <a:tc>
                  <a:txBody>
                    <a:bodyPr/>
                    <a:lstStyle/>
                    <a:p>
                      <a:r>
                        <a:t>Reversibility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Limited; displacement and health effects partly irreversible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Comparatively greater; statutes revised in 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Reversible settings can substitute adaptive design for ex ante certainty.</a:t>
                      </a:r>
                    </a:p>
                  </a:txBody>
                  <a:tcPr/>
                </a:tc>
              </a:tr>
              <a:tr h="322897">
                <a:tc>
                  <a:txBody>
                    <a:bodyPr/>
                    <a:lstStyle/>
                    <a:p>
                      <a:r>
                        <a:t>Time to observe outcomes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Years; health endpoints partly latent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Years; fiscal outcomes observable quickly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Observability on policy timescales enables learning architectures.</a:t>
                      </a:r>
                    </a:p>
                  </a:txBody>
                  <a:tcPr/>
                </a:tc>
              </a:tr>
              <a:tr h="322897">
                <a:tc>
                  <a:txBody>
                    <a:bodyPr/>
                    <a:lstStyle/>
                    <a:p>
                      <a:r>
                        <a:t>Learning opportunity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Zoning, staged return, exemptions possible but hard mid-crisis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Staged cuts, triggers, sunset clauses readily available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Where learning is feasible, adaptive implementation hedges shape uncertainty.</a:t>
                      </a:r>
                    </a:p>
                  </a:txBody>
                  <a:tcPr/>
                </a:tc>
              </a:tr>
              <a:tr h="322905">
                <a:tc>
                  <a:txBody>
                    <a:bodyPr/>
                    <a:lstStyle/>
                    <a:p>
                      <a:r>
                        <a:t>Preferred decision 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Staged, revisable protection with asymmetric-harm safeguards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Staged implementation with triggers and 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Architecture should match the joint uncertainty-consequence-reversibility configuration.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9893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/>
              <a:t>Table 5. Comparative summary of the two cases across the common dimensions. The cases are not statistically comparable; the final column states the comparative lesson each contrast supports.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/>
              <a:t>Appendix Table A1. Municipalities excluded from the Fukushima panel because of missing mortality or population observations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1161288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184512">
                <a:tc>
                  <a:txBody>
                    <a:bodyPr/>
                    <a:lstStyle/>
                    <a:p>
                      <a:r>
                        <a:t>Prefecture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Municipality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Reason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Years missing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Iwate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Hachimantai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Iwate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Oshu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Unit not observed under a single code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Iwate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Takizawa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Unit not observed under a single code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2005,2006,2007,2008,2009,2010,2011,2012,2013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Iwate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Nishiwaga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Iwate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Hirono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Unit not observed under a single code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Miyagi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Aoba Ward, Sendai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2006,2007,2008,2009,2010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Miyagi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Miyagino Ward, Sendai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2005,2006,2007,2008,2009,2010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Miyagi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Wakabayashi Ward, Sendai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2005,2006,2007,2008,2009,2010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Miyagi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Taihaku Ward, Sendai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2005,2006,2007,2008,2009,2010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Miyagi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Izumi Ward, Sendai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2005,2006,2007,2008,2009,2010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Miyagi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Shiogama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2006,2007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Miyagi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Miyagi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Kurihara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Miyagi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Higashimatsushima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Miyagi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Osaki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Unit not observed under a single code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Miyagi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Tomiya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Unit not observed under a single code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2005,2006,2007,2008,2009,2010,2011,2012,2013,2014,2015,2016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Miyagi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Shichikashuku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2007,2008,2009,2010,2011,2012,2013,2014,2015,2016,2017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Miyagi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Shichigahama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2007,2008,2009,2010,2011,2012,2013,2014,2015,2016,2017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Miyagi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Misato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Unit not observed under a single code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Miyagi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Minamisanriku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Yamagata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Shonai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Fukushima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Motomiya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2006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Ibaraki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Kasumigaura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2006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Ibaraki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Sakuragawa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Ibaraki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Kamisu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Ibaraki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Namegata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</a:t>
                      </a:r>
                    </a:p>
                  </a:txBody>
                  <a:tcPr/>
                </a:tc>
              </a:tr>
              <a:tr h="184536">
                <a:tc>
                  <a:txBody>
                    <a:bodyPr/>
                    <a:lstStyle/>
                    <a:p>
                      <a:r>
                        <a:t>Ibaraki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Hokota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9893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/>
              <a:t>Appendix Table A1. Municipalities excluded from the Fukushima panel because of missing mortality or population observations. Exclusions are determined before outcome estimation.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/>
              <a:t>Appendix Table A2. Unit-level Fukushima synthetic-control results for T1 municipalities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1161288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5480"/>
                <a:gridCol w="1935480"/>
                <a:gridCol w="1935480"/>
                <a:gridCol w="1935480"/>
                <a:gridCol w="1935480"/>
                <a:gridCol w="1935480"/>
              </a:tblGrid>
              <a:tr h="469669">
                <a:tc>
                  <a:txBody>
                    <a:bodyPr/>
                    <a:lstStyle/>
                    <a:p>
                      <a:r>
                        <a:t>Municipality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Donors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Pre-RMSPE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Post-RMSPE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Mean gap 2012-2019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Permutation p</a:t>
                      </a:r>
                    </a:p>
                  </a:txBody>
                  <a:tcPr/>
                </a:tc>
              </a:tr>
              <a:tr h="469669">
                <a:tc>
                  <a:txBody>
                    <a:bodyPr/>
                    <a:lstStyle/>
                    <a:p>
                      <a:r>
                        <a:t>Minamisoma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0.0293004359789378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0.1839369029359153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-0.0106632202853943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0.25</a:t>
                      </a:r>
                    </a:p>
                  </a:txBody>
                  <a:tcPr/>
                </a:tc>
              </a:tr>
              <a:tr h="469669">
                <a:tc>
                  <a:txBody>
                    <a:bodyPr/>
                    <a:lstStyle/>
                    <a:p>
                      <a:r>
                        <a:t>Kawamata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0.0097976486915868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0.0816468760361608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0.0551197222469218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0.3333333333333333</a:t>
                      </a:r>
                    </a:p>
                  </a:txBody>
                  <a:tcPr/>
                </a:tc>
              </a:tr>
              <a:tr h="469669">
                <a:tc>
                  <a:txBody>
                    <a:bodyPr/>
                    <a:lstStyle/>
                    <a:p>
                      <a:r>
                        <a:t>Naraha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0.0884818531208004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0.2043826907729224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-0.1279509738692234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0.7142857142857143</a:t>
                      </a:r>
                    </a:p>
                  </a:txBody>
                  <a:tcPr/>
                </a:tc>
              </a:tr>
              <a:tr h="469669">
                <a:tc>
                  <a:txBody>
                    <a:bodyPr/>
                    <a:lstStyle/>
                    <a:p>
                      <a:r>
                        <a:t>Tomioka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0.0593407198568021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0.1644916020423305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-0.1516691449521056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</a:t>
                      </a:r>
                    </a:p>
                  </a:txBody>
                  <a:tcPr/>
                </a:tc>
              </a:tr>
              <a:tr h="469669">
                <a:tc>
                  <a:txBody>
                    <a:bodyPr/>
                    <a:lstStyle/>
                    <a:p>
                      <a:r>
                        <a:t>Kawauchi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0.0444060903046119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0.148073524583365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0.0831437141637636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</a:t>
                      </a:r>
                    </a:p>
                  </a:txBody>
                  <a:tcPr/>
                </a:tc>
              </a:tr>
              <a:tr h="469669">
                <a:tc>
                  <a:txBody>
                    <a:bodyPr/>
                    <a:lstStyle/>
                    <a:p>
                      <a:r>
                        <a:t>Okuma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0.1444174894492124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0.3036511289006508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-0.2680255705173741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0.5625</a:t>
                      </a:r>
                    </a:p>
                  </a:txBody>
                  <a:tcPr/>
                </a:tc>
              </a:tr>
              <a:tr h="469669">
                <a:tc>
                  <a:txBody>
                    <a:bodyPr/>
                    <a:lstStyle/>
                    <a:p>
                      <a:r>
                        <a:t>Futaba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0.0489068465462831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0.2571351506549926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-0.1909625137928648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0.2857142857142857</a:t>
                      </a:r>
                    </a:p>
                  </a:txBody>
                  <a:tcPr/>
                </a:tc>
              </a:tr>
              <a:tr h="469669">
                <a:tc>
                  <a:txBody>
                    <a:bodyPr/>
                    <a:lstStyle/>
                    <a:p>
                      <a:r>
                        <a:t>Namie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0.004382533378559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0.1800522917924872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-0.098411662199711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0.2631578947368421</a:t>
                      </a:r>
                    </a:p>
                  </a:txBody>
                  <a:tcPr/>
                </a:tc>
              </a:tr>
              <a:tr h="469669">
                <a:tc>
                  <a:txBody>
                    <a:bodyPr/>
                    <a:lstStyle/>
                    <a:p>
                      <a:r>
                        <a:t>Katsurao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0.1826943753700668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0.2488059139201824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-0.1367370317019828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0.8333333333333334</a:t>
                      </a:r>
                    </a:p>
                  </a:txBody>
                  <a:tcPr/>
                </a:tc>
              </a:tr>
              <a:tr h="469670">
                <a:tc>
                  <a:txBody>
                    <a:bodyPr/>
                    <a:lstStyle/>
                    <a:p>
                      <a:r>
                        <a:t>Iitate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0.0168998085544957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0.1182144350993184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-0.0265778280351051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0.3043478260869565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9893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/>
              <a:t>Appendix Table A2. Unit-level Fukushima synthetic-control results for T1 municipalities. Mean gaps cover 2012-2019; permutation p values compare treated and placebo-unit gaps.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