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46" y="594360"/>
            <a:ext cx="431740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1. Comparative appraisal sequence for functional-form dependence. The same analytical sequence is applied to both cases: the empirical relationship, the decision-relevant shape, evidence in the policy range, decision sensitivity, consequence asymmetry, and reversibility and learning. Fukushima entries appear before the vertical bar; Kansas entries after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07" y="594360"/>
            <a:ext cx="469147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2. Diagnostic used in the cross-domain mapping exercise. Green paths continue toward robust nonlinear classification; orange paths indicate the first unmet criterion. Insufficient data is assigned when influence removal leaves too few observations for the nested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0" y="594360"/>
            <a:ext cx="748737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3. Share of 50 relationship-dataset pairs not classified as robustly nonlinear across significance levels and Cook-distance removal counts. Cell labels report percentages; the color scale spans 0-100%.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7" y="594360"/>
            <a:ext cx="972119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4. Pooled crude death rates in Fukushima treatment and control groups. T1 contains 10 mandatory-evacuation municipalities; T1w is the restricted complete-evacuation group; T2 contains comparison municipalities subject to other evacuation-related classifications. The shaded region is the 2012-2019 average-treatment-effect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27076"/>
            <a:ext cx="10972800" cy="4718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5. Preferred T1 event-study estimates using unweighted Fukushima municipal controls. Points are year-specific coefficients relative to the omitted reference year; bars are 95% confidence intervals. The acute disaster year 2011 is shown but excluded from the 2012-2019 average-treatment-effect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6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87" y="594360"/>
            <a:ext cx="765911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6. T1 acute-phase mortality decomposition for 2011. Expected deaths are projected from the pre-disaster municipal trend; direct disaster deaths are reported by Fukushima Prefecture; residual excess is the arithmetic difference and is not assigned to a single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7</a:t>
            </a:r>
          </a:p>
        </p:txBody>
      </p:sp>
      <p:pic>
        <p:nvPicPr>
          <p:cNvPr id="3" name="Picture 2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19324"/>
            <a:ext cx="10972800" cy="4533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7. Kansas and synthetic Kansas, 1997-2019. Panel (a) reports log real individual income-tax revenue per capita; panel (b) reports log GDP per capita. Synthetic controls use the main 33-state donor pool. Shading marks 2013-2017, between implementation and legislative reversal.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Appendix Figure A1</a:t>
            </a:r>
          </a:p>
        </p:txBody>
      </p:sp>
      <p:pic>
        <p:nvPicPr>
          <p:cNvPr id="3" name="Picture 2" descr="Figur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70" y="594360"/>
            <a:ext cx="670435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Appendix Figure A1. Kansas neighboring-state difference-in-differences event studies for real GDP per capita, employment, total tax revenue, and individual income-tax revenue. Coefficients are relative to 2012; bars are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1. Cross-domain mapping classifications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663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Outlier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Demography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Environmental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Political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1. Cross-domain mapping classifications by category. Counts describe the purposive relationship-dataset inventory and are not prevalence estimates for scientific theories or literatures.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2. Fukushima difference-in-differences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97412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(log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Implied deaths 2012-2019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-877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-1,018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-1,123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-1,109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-1,333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-1,291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-1,224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-405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-451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2. Fukushima difference-in-differences estimates. ATT is the 2012-2019 average difference in log crude death rates; 2011 is excluded. Permutation p values use 1000 assignments. Implied deaths are descriptive transformations of recorded municipal deaths and are not causal death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3. Fukushima measured mortality quantities and published radiological-risk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9025"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observed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expected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Of which direct disaster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Prefecture, 2014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residual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implied difference 2012-2019 (recorded)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Certified disaster-related deaths, 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Reconstruction Agency, 2026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Projected worldwide cancer deaths from the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 (15-1,100)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Evacuation-avoided radiological mortalities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(3-245)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Lifetime-risk relative increases in the 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leukaemia up to 7%; breast up to 6%; all solid cancers up to 4%; thyroid up to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WHO conclusion 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Collective effective 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/ 36 / 48 thousand man-Sv (first year / ten years / lifetime)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Japanese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  <a:tr h="369035">
                <a:tc>
                  <a:txBody>
                    <a:bodyPr/>
                    <a:lstStyle/>
                    <a:p>
                      <a:r>
                        <a:t>UNSCEAR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3. Fukushima measured mortality quantities and published radiological-risk projections. Rows differ in population, geography, time horizon, measurement, and model basis and must not be added or interpreted as commensurate estimands.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4. Kansas synthetic-control estimates by outcome and donor pool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574040"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in-time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 range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 to 0.029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 to -0.001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-0.039 to -0.028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-0.322 to -0.291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4. Kansas synthetic-control estimates by outcome and donor pool. Mean gaps cover 2013-2017. Permutation p values compare Kansas with donor-state placebo gaps; LOO denotes leave-one-donor-out sensitivity.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5. Comparative summary of the two cases across the common dimensions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22897">
                <a:tc>
                  <a:txBody>
                    <a:bodyPr/>
                    <a:lstStyle/>
                    <a:p>
                      <a:r>
                        <a:t>Comparative 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evacuation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Kansas tax reform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 lesson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Policy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Radiation protection; emergency 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Fiscal and economic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mechanism is domain-general: a named curve can carry a decision in any sector.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Policy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 population radiation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Raise growth while recovering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Both objectives required a specific shape, not just an association.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Canonical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radiation dose-response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 rate-revenue and growth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Named curves compress multi-step arguments into portable pictures.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Decision-relevant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slope below observed doses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position, slope, and dynamic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decision needed one feature of the curve, not the curve as a whole.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Type of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below the observed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Local-position and response-geometry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 uncertainty locations produce different appraisal priorities.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Extrapolation burden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High; few observations below 0.1 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Moderate; within-state history but untested rate cut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burden predicts how far evidence can carry a decision.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Transportability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Atomic-bomb and occupational evidence to municipal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Cross-state and theoretical evidence to one state's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Transport gaps differ in kind; decompose them by population, period, and institution.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Decision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Evacuation scope and duration change under plausible dose-response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outlook changes under plausible local slopes and growth paths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both, plausible alternative shapes imply materially different policies.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Cost of wrong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Displacement, mortality risk, care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loss and service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Error costs fall on identifiable groups, not on the model.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Cost of inaction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Residual radiation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Foregone growth stimulus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Asymmetry must be weighed in both directions, not one.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Consequence asymmetry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Severe on both sides; competing harms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Primarily fiscal; distribution across budgets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Higher asymmetry raises the decision value of shape certainty.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Reversibility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Limited; displacement and health effects partly irreversible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Comparatively greater; statutes revised in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Reversible settings can substitute adaptive design for ex ante certainty.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Time to observe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Years; health endpoints partly latent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Years; fiscal outcomes observable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Observability on policy timescales enables learning architectures.</a:t>
                      </a:r>
                    </a:p>
                  </a:txBody>
                  <a:tcPr/>
                </a:tc>
              </a:tr>
              <a:tr h="322897">
                <a:tc>
                  <a:txBody>
                    <a:bodyPr/>
                    <a:lstStyle/>
                    <a:p>
                      <a:r>
                        <a:t>Learning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Zoning, staged return, exemptions possible but hard mid-crisis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 cuts, triggers, sunset clauses readily 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Where learning is feasible, adaptive implementation hedges shape uncertainty.</a:t>
                      </a:r>
                    </a:p>
                  </a:txBody>
                  <a:tcPr/>
                </a:tc>
              </a:tr>
              <a:tr h="322905">
                <a:tc>
                  <a:txBody>
                    <a:bodyPr/>
                    <a:lstStyle/>
                    <a:p>
                      <a:r>
                        <a:t>Preferred decision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Staged, revisable protection with asymmetric-harm safeguards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Staged implementation with triggers and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Architecture should match the joint uncertainty-consequence-reversibility configuration.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5. Comparative summary of the two cases across the common dimensions. The cases are not statistically comparable; the final column states the comparative lesson each contrast supports.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A1. Municipalities excluded from the Fukushima panel because of missing mortality or population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84512">
                <a:tc>
                  <a:txBody>
                    <a:bodyPr/>
                    <a:lstStyle/>
                    <a:p>
                      <a:r>
                        <a:t>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 missing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Hachimantai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Takizawa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Nishiwaga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Hirono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Aoba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Miyagino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Wakabayashi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Taihaku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Izumi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Shiogama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Kurihara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Higashimatsushima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2005,2006,2007,2008,2009,2010,2011,2012,2013,2014,2015,2016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Shichikashuku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Shichigahama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Minamisanriku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Yamagata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Kasumigaura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Sakuragawa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Kamisu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36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A1. Municipalities excluded from the Fukushima panel because of missing mortality or population observations. Exclusions are determined before outcome estimation.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A2. Unit-level Fukushima synthetic-control results for T1 municipalities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69669"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 2012-2019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Minamisoma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0.029300435978957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0.1839369039357427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-0.0106632246883388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0.0097976486916118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0.0816468772883595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0.0551197205542313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0.3333333333333333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0.0884818531209874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0.2043825464261744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-0.1279506017217466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0.7142857142857143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Tomioka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0.0593407198567986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0.164491604408235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-0.1516691457422756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0.0444060903046035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0.1480735301319032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0.0831437221720144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0.1444174894492097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0.3036512375095741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-0.2680256930368754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Futaba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0.0489068465462905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0.2571351516004428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-0.1909625167259772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0.2857142857142857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0.0043825333785589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0.1800522918063515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-0.0984116620871223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0.2631578947368421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Katsurao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0.1826943753700612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0.2488059137391605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-0.1367370322694726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0.8333333333333334</a:t>
                      </a:r>
                    </a:p>
                  </a:txBody>
                  <a:tcPr/>
                </a:tc>
              </a:tr>
              <a:tr h="469670">
                <a:tc>
                  <a:txBody>
                    <a:bodyPr/>
                    <a:lstStyle/>
                    <a:p>
                      <a:r>
                        <a:t>Iitate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0.0168998085544814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0.1182144357751331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-0.0265778278315405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0.3043478260869565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A2. Unit-level Fukushima synthetic-control results for T1 municipalities. Mean gaps cover 2012-2019; permutation p values compare treated and placebo-unit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